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1" r:id="rId6"/>
    <p:sldId id="265"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99"/>
    <p:restoredTop sz="73658"/>
  </p:normalViewPr>
  <p:slideViewPr>
    <p:cSldViewPr snapToGrid="0" snapToObjects="1">
      <p:cViewPr varScale="1">
        <p:scale>
          <a:sx n="98" d="100"/>
          <a:sy n="98" d="100"/>
        </p:scale>
        <p:origin x="19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 J. (Jian)" userId="14442680-ff54-4506-b92e-36ac84d998b4" providerId="ADAL" clId="{6649DD66-BA9F-5036-B563-31FFF7BBB399}"/>
    <pc:docChg chg="custSel addSld delSld modSld">
      <pc:chgData name="He, J. (Jian)" userId="14442680-ff54-4506-b92e-36ac84d998b4" providerId="ADAL" clId="{6649DD66-BA9F-5036-B563-31FFF7BBB399}" dt="2026-10-14T15:58:45.108" v="5133"/>
      <pc:docMkLst>
        <pc:docMk/>
      </pc:docMkLst>
      <pc:sldChg chg="modNotesTx">
        <pc:chgData name="He, J. (Jian)" userId="14442680-ff54-4506-b92e-36ac84d998b4" providerId="ADAL" clId="{6649DD66-BA9F-5036-B563-31FFF7BBB399}" dt="2026-10-14T15:46:27.684" v="4760" actId="20577"/>
        <pc:sldMkLst>
          <pc:docMk/>
          <pc:sldMk cId="0" sldId="256"/>
        </pc:sldMkLst>
      </pc:sldChg>
      <pc:sldChg chg="modNotesTx">
        <pc:chgData name="He, J. (Jian)" userId="14442680-ff54-4506-b92e-36ac84d998b4" providerId="ADAL" clId="{6649DD66-BA9F-5036-B563-31FFF7BBB399}" dt="2026-10-14T15:48:27.572" v="4922" actId="20577"/>
        <pc:sldMkLst>
          <pc:docMk/>
          <pc:sldMk cId="0" sldId="257"/>
        </pc:sldMkLst>
      </pc:sldChg>
      <pc:sldChg chg="modNotesTx">
        <pc:chgData name="He, J. (Jian)" userId="14442680-ff54-4506-b92e-36ac84d998b4" providerId="ADAL" clId="{6649DD66-BA9F-5036-B563-31FFF7BBB399}" dt="2026-10-14T15:50:46.160" v="5107" actId="20577"/>
        <pc:sldMkLst>
          <pc:docMk/>
          <pc:sldMk cId="0" sldId="258"/>
        </pc:sldMkLst>
      </pc:sldChg>
      <pc:sldChg chg="modSp mod modNotesTx">
        <pc:chgData name="He, J. (Jian)" userId="14442680-ff54-4506-b92e-36ac84d998b4" providerId="ADAL" clId="{6649DD66-BA9F-5036-B563-31FFF7BBB399}" dt="2026-10-14T15:51:12.341" v="5130" actId="20577"/>
        <pc:sldMkLst>
          <pc:docMk/>
          <pc:sldMk cId="0" sldId="259"/>
        </pc:sldMkLst>
        <pc:spChg chg="mod">
          <ac:chgData name="He, J. (Jian)" userId="14442680-ff54-4506-b92e-36ac84d998b4" providerId="ADAL" clId="{6649DD66-BA9F-5036-B563-31FFF7BBB399}" dt="2026-10-14T15:19:50.327" v="1452" actId="20577"/>
          <ac:spMkLst>
            <pc:docMk/>
            <pc:sldMk cId="0" sldId="259"/>
            <ac:spMk id="11" creationId="{00000000-0000-0000-0000-000000000000}"/>
          </ac:spMkLst>
        </pc:spChg>
      </pc:sldChg>
      <pc:sldChg chg="modSp mod modNotesTx">
        <pc:chgData name="He, J. (Jian)" userId="14442680-ff54-4506-b92e-36ac84d998b4" providerId="ADAL" clId="{6649DD66-BA9F-5036-B563-31FFF7BBB399}" dt="2026-10-14T15:29:57.075" v="2211" actId="20577"/>
        <pc:sldMkLst>
          <pc:docMk/>
          <pc:sldMk cId="0" sldId="261"/>
        </pc:sldMkLst>
        <pc:spChg chg="mod">
          <ac:chgData name="He, J. (Jian)" userId="14442680-ff54-4506-b92e-36ac84d998b4" providerId="ADAL" clId="{6649DD66-BA9F-5036-B563-31FFF7BBB399}" dt="2026-10-09T08:50:35.778" v="3" actId="20577"/>
          <ac:spMkLst>
            <pc:docMk/>
            <pc:sldMk cId="0" sldId="261"/>
            <ac:spMk id="10" creationId="{00000000-0000-0000-0000-000000000000}"/>
          </ac:spMkLst>
        </pc:spChg>
        <pc:graphicFrameChg chg="modGraphic">
          <ac:chgData name="He, J. (Jian)" userId="14442680-ff54-4506-b92e-36ac84d998b4" providerId="ADAL" clId="{6649DD66-BA9F-5036-B563-31FFF7BBB399}" dt="2026-10-05T14:07:33.615" v="2" actId="20577"/>
          <ac:graphicFrameMkLst>
            <pc:docMk/>
            <pc:sldMk cId="0" sldId="261"/>
            <ac:graphicFrameMk id="9" creationId="{00000000-0000-0000-0000-000000000000}"/>
          </ac:graphicFrameMkLst>
        </pc:graphicFrameChg>
      </pc:sldChg>
      <pc:sldChg chg="modNotesTx">
        <pc:chgData name="He, J. (Jian)" userId="14442680-ff54-4506-b92e-36ac84d998b4" providerId="ADAL" clId="{6649DD66-BA9F-5036-B563-31FFF7BBB399}" dt="2026-10-14T15:37:10.078" v="3404" actId="20577"/>
        <pc:sldMkLst>
          <pc:docMk/>
          <pc:sldMk cId="0" sldId="262"/>
        </pc:sldMkLst>
      </pc:sldChg>
      <pc:sldChg chg="modSp mod modNotesTx">
        <pc:chgData name="He, J. (Jian)" userId="14442680-ff54-4506-b92e-36ac84d998b4" providerId="ADAL" clId="{6649DD66-BA9F-5036-B563-31FFF7BBB399}" dt="2026-10-14T15:40:35.999" v="3853" actId="20577"/>
        <pc:sldMkLst>
          <pc:docMk/>
          <pc:sldMk cId="0" sldId="263"/>
        </pc:sldMkLst>
        <pc:spChg chg="mod">
          <ac:chgData name="He, J. (Jian)" userId="14442680-ff54-4506-b92e-36ac84d998b4" providerId="ADAL" clId="{6649DD66-BA9F-5036-B563-31FFF7BBB399}" dt="2026-10-09T11:26:43.239" v="7" actId="20577"/>
          <ac:spMkLst>
            <pc:docMk/>
            <pc:sldMk cId="0" sldId="263"/>
            <ac:spMk id="10" creationId="{00000000-0000-0000-0000-000000000000}"/>
          </ac:spMkLst>
        </pc:spChg>
      </pc:sldChg>
      <pc:sldChg chg="addSp delSp modSp mod modNotesTx">
        <pc:chgData name="He, J. (Jian)" userId="14442680-ff54-4506-b92e-36ac84d998b4" providerId="ADAL" clId="{6649DD66-BA9F-5036-B563-31FFF7BBB399}" dt="2026-10-14T15:58:45.108" v="5133"/>
        <pc:sldMkLst>
          <pc:docMk/>
          <pc:sldMk cId="0" sldId="264"/>
        </pc:sldMkLst>
        <pc:spChg chg="add del mod">
          <ac:chgData name="He, J. (Jian)" userId="14442680-ff54-4506-b92e-36ac84d998b4" providerId="ADAL" clId="{6649DD66-BA9F-5036-B563-31FFF7BBB399}" dt="2026-10-14T15:58:45.108" v="5133"/>
          <ac:spMkLst>
            <pc:docMk/>
            <pc:sldMk cId="0" sldId="264"/>
            <ac:spMk id="25" creationId="{8D26BE22-35C7-FE3E-78A7-311B663B2FF0}"/>
          </ac:spMkLst>
        </pc:spChg>
      </pc:sldChg>
      <pc:sldChg chg="modSp new mod modNotesTx">
        <pc:chgData name="He, J. (Jian)" userId="14442680-ff54-4506-b92e-36ac84d998b4" providerId="ADAL" clId="{6649DD66-BA9F-5036-B563-31FFF7BBB399}" dt="2026-10-14T15:33:58.526" v="2751" actId="20577"/>
        <pc:sldMkLst>
          <pc:docMk/>
          <pc:sldMk cId="3178750708" sldId="265"/>
        </pc:sldMkLst>
        <pc:spChg chg="mod">
          <ac:chgData name="He, J. (Jian)" userId="14442680-ff54-4506-b92e-36ac84d998b4" providerId="ADAL" clId="{6649DD66-BA9F-5036-B563-31FFF7BBB399}" dt="2026-10-09T10:57:57.499" v="6" actId="20577"/>
          <ac:spMkLst>
            <pc:docMk/>
            <pc:sldMk cId="3178750708" sldId="265"/>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28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hear me well, if you can , can you raise your hand? OK, I want to also see your hands if someone has an electric car.</a:t>
            </a:r>
          </a:p>
          <a:p>
            <a:r>
              <a:rPr lang="en-US" dirty="0"/>
              <a:t>All you worried in your car’s battery is related to what we are doing, the blood of a battery, liquid electrolyte.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next-generation battery needs a new electrolyte recipe, and each lab iteration takes four to eight weeks to test. But there are millions of possible formulation for us the try out, and trial and error is the current way that most battery company are doing to find an electrolyte recipe. We accelerate the trial</a:t>
            </a:r>
            <a:r>
              <a:rPr lang="zh-CN" altLang="en-US" dirty="0"/>
              <a:t> </a:t>
            </a:r>
            <a:r>
              <a:rPr lang="en-US" altLang="zh-CN" dirty="0"/>
              <a:t>and error by using AI-driven simulations. That means we can customize electrolyte that battery company needs via a way more efficient workflow.</a:t>
            </a:r>
            <a:br>
              <a:rPr lang="en-US" altLang="zh-CN"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Netherlands has only parts of battery industry component, for instance, </a:t>
            </a:r>
            <a:r>
              <a:rPr lang="en-US" dirty="0" err="1"/>
              <a:t>LeydenJar</a:t>
            </a:r>
            <a:r>
              <a:rPr lang="en-US" dirty="0"/>
              <a:t>, </a:t>
            </a:r>
            <a:r>
              <a:rPr lang="en-US" dirty="0" err="1"/>
              <a:t>LionVolt</a:t>
            </a:r>
            <a:r>
              <a:rPr lang="en-US" dirty="0"/>
              <a:t> and E-</a:t>
            </a:r>
            <a:r>
              <a:rPr lang="en-US" dirty="0" err="1"/>
              <a:t>magy</a:t>
            </a:r>
            <a:r>
              <a:rPr lang="en-US" dirty="0"/>
              <a:t> who innovate silicon and lithium-metal, these are anode materials. And they highly rely on Asia to take care of other part of the batteries, electrolytes are the most important part. There is no one who formulates electrolytes in the Netherlands.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do that. So how do we do it? Our technology has four steps. The customer sends a brief, for example the electrolyte has work with 4.6V cathode and silicon anode and non-flammable. Our agent pipeline screens and ranks, and we validate the shortlist experimentally before shipping samples. They get a working formulation, not a PDF.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proof we can do that? This is a summary of my research in electrolytes formulation. There are seventeen formulations that we discovered before, with a full cell cycled against a blank, across carbonate, ether, non-flammable and sodium-ion systems. All of them are peer-reviewed and reproducible and we published all these results in scientific journals. All these paper that I co-authored has more than 2500 citations, and the designing and discovering principals are exactly from these works across 7 years, from 2019-2026, and now we have made it a standardized workflow.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This is our lead in-house result. A</a:t>
            </a:r>
            <a:r>
              <a:rPr lang="en-US" dirty="0"/>
              <a:t> unpublished liquid electrolyte</a:t>
            </a:r>
            <a:r>
              <a:rPr dirty="0"/>
              <a:t> formulation picked by our screening pipeline, </a:t>
            </a:r>
            <a:r>
              <a:rPr lang="en-US" dirty="0"/>
              <a:t>that can work </a:t>
            </a:r>
            <a:r>
              <a:rPr dirty="0"/>
              <a:t>in a</a:t>
            </a:r>
            <a:r>
              <a:rPr lang="en-US" dirty="0"/>
              <a:t> generic electrode system with excellent(or the best so far) performance, in a generic electrode system, which means we use only normal electrode materials</a:t>
            </a:r>
            <a:r>
              <a:rPr dirty="0"/>
              <a:t>. </a:t>
            </a:r>
            <a:r>
              <a:rPr lang="en-US" dirty="0"/>
              <a:t>And the full cell performance is much better than battery start-ups that innovate electrode materials. I want to emphasize this is not a competition because we are innovating different parts in a battery.</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business model is to compensate the blank in battery industry in the Netherlands, as we mentioned before, these start-up company that innovate electrode materials are our costumers because we work on the parts that they don’t, which means we help each other to make better batteries. What we are trying to sell is not only the good electrolytes itself but also the designing service and our workflow, software, testing strategies and so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currently have 4 person, a small team including Science( myself), software engineering(</a:t>
            </a:r>
            <a:r>
              <a:rPr lang="en-US" dirty="0" err="1"/>
              <a:t>alex</a:t>
            </a:r>
            <a:r>
              <a:rPr lang="en-US" dirty="0"/>
              <a:t>), business operation(Qing) and an experimental validation(Peter).Peter is part of </a:t>
            </a:r>
            <a:r>
              <a:rPr lang="en-US" dirty="0" err="1"/>
              <a:t>BatteryNL</a:t>
            </a:r>
            <a:r>
              <a:rPr lang="en-US" dirty="0"/>
              <a:t> consortium, which is Dutch government funded consortium including start-ups, government institution and universities, that where we can find our target customers and potential partners.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want to achieve in Yes delft project is simple, we want to get a few paid pilot project, starting from our in-house formulation first.</a:t>
            </a:r>
          </a:p>
          <a:p>
            <a:r>
              <a:rPr lang="en-US" dirty="0"/>
              <a:t>Get help in terms of legal, patents, something like that beyond our team member’s expertise. </a:t>
            </a:r>
          </a:p>
          <a:p>
            <a:r>
              <a:rPr lang="en-US" dirty="0"/>
              <a:t>And also, of course, we want to get capitals to  support our pilot project via subsidies, investment from governments and financial markets.</a:t>
            </a:r>
          </a:p>
          <a:p>
            <a:endParaRPr lang="en-US" dirty="0"/>
          </a:p>
          <a:p>
            <a:r>
              <a:rPr lang="en-US" dirty="0"/>
              <a:t>Thanks for attentions and any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3"/>
        </a:solidFill>
        <a:effectLst/>
      </p:bgPr>
    </p:bg>
    <p:spTree>
      <p:nvGrpSpPr>
        <p:cNvPr id="1" name=""/>
        <p:cNvGrpSpPr/>
        <p:nvPr/>
      </p:nvGrpSpPr>
      <p:grpSpPr>
        <a:xfrm>
          <a:off x="0" y="0"/>
          <a:ext cx="0" cy="0"/>
          <a:chOff x="0" y="0"/>
          <a:chExt cx="0" cy="0"/>
        </a:xfrm>
      </p:grpSpPr>
      <p:sp>
        <p:nvSpPr>
          <p:cNvPr id="2" name="Shape 0"/>
          <p:cNvSpPr/>
          <p:nvPr/>
        </p:nvSpPr>
        <p:spPr>
          <a:xfrm>
            <a:off x="6834026" y="1279351"/>
            <a:ext cx="115414" cy="1098089"/>
          </a:xfrm>
          <a:prstGeom prst="line">
            <a:avLst/>
          </a:prstGeom>
          <a:noFill/>
          <a:ln w="15875">
            <a:solidFill>
              <a:srgbClr val="5FB8C9"/>
            </a:solidFill>
            <a:prstDash val="solid"/>
          </a:ln>
        </p:spPr>
        <p:txBody>
          <a:bodyPr/>
          <a:lstStyle/>
          <a:p>
            <a:endParaRPr lang="en-NL"/>
          </a:p>
        </p:txBody>
      </p:sp>
      <p:sp>
        <p:nvSpPr>
          <p:cNvPr id="3" name="Shape 1"/>
          <p:cNvSpPr/>
          <p:nvPr/>
        </p:nvSpPr>
        <p:spPr>
          <a:xfrm>
            <a:off x="6733442" y="1178767"/>
            <a:ext cx="201168" cy="201168"/>
          </a:xfrm>
          <a:prstGeom prst="ellipse">
            <a:avLst/>
          </a:prstGeom>
          <a:solidFill>
            <a:srgbClr val="5FB8C9"/>
          </a:solidFill>
          <a:ln w="12700">
            <a:solidFill>
              <a:srgbClr val="5FB8C9"/>
            </a:solidFill>
            <a:prstDash val="solid"/>
          </a:ln>
        </p:spPr>
        <p:txBody>
          <a:bodyPr/>
          <a:lstStyle/>
          <a:p>
            <a:endParaRPr lang="en-NL"/>
          </a:p>
        </p:txBody>
      </p:sp>
      <p:sp>
        <p:nvSpPr>
          <p:cNvPr id="4" name="Shape 2"/>
          <p:cNvSpPr/>
          <p:nvPr/>
        </p:nvSpPr>
        <p:spPr>
          <a:xfrm flipH="1">
            <a:off x="6949440" y="2203969"/>
            <a:ext cx="983805" cy="173471"/>
          </a:xfrm>
          <a:prstGeom prst="line">
            <a:avLst/>
          </a:prstGeom>
          <a:noFill/>
          <a:ln w="15875">
            <a:solidFill>
              <a:srgbClr val="5FB8C9"/>
            </a:solidFill>
            <a:prstDash val="solid"/>
          </a:ln>
        </p:spPr>
        <p:txBody>
          <a:bodyPr/>
          <a:lstStyle/>
          <a:p>
            <a:endParaRPr lang="en-NL"/>
          </a:p>
        </p:txBody>
      </p:sp>
      <p:sp>
        <p:nvSpPr>
          <p:cNvPr id="5" name="Shape 3"/>
          <p:cNvSpPr/>
          <p:nvPr/>
        </p:nvSpPr>
        <p:spPr>
          <a:xfrm>
            <a:off x="7832661" y="2103385"/>
            <a:ext cx="201168" cy="201168"/>
          </a:xfrm>
          <a:prstGeom prst="ellipse">
            <a:avLst/>
          </a:prstGeom>
          <a:solidFill>
            <a:srgbClr val="5FB8C9"/>
          </a:solidFill>
          <a:ln w="12700">
            <a:solidFill>
              <a:srgbClr val="5FB8C9"/>
            </a:solidFill>
            <a:prstDash val="solid"/>
          </a:ln>
        </p:spPr>
        <p:txBody>
          <a:bodyPr/>
          <a:lstStyle/>
          <a:p>
            <a:endParaRPr lang="en-NL"/>
          </a:p>
        </p:txBody>
      </p:sp>
      <p:sp>
        <p:nvSpPr>
          <p:cNvPr id="6" name="Shape 4"/>
          <p:cNvSpPr/>
          <p:nvPr/>
        </p:nvSpPr>
        <p:spPr>
          <a:xfrm>
            <a:off x="6949440" y="2377440"/>
            <a:ext cx="738813" cy="820534"/>
          </a:xfrm>
          <a:prstGeom prst="line">
            <a:avLst/>
          </a:prstGeom>
          <a:noFill/>
          <a:ln w="15875">
            <a:solidFill>
              <a:srgbClr val="5FB8C9"/>
            </a:solidFill>
            <a:prstDash val="solid"/>
          </a:ln>
        </p:spPr>
        <p:txBody>
          <a:bodyPr/>
          <a:lstStyle/>
          <a:p>
            <a:endParaRPr lang="en-NL"/>
          </a:p>
        </p:txBody>
      </p:sp>
      <p:sp>
        <p:nvSpPr>
          <p:cNvPr id="7" name="Shape 5"/>
          <p:cNvSpPr/>
          <p:nvPr/>
        </p:nvSpPr>
        <p:spPr>
          <a:xfrm>
            <a:off x="7587669" y="3097390"/>
            <a:ext cx="201168" cy="201168"/>
          </a:xfrm>
          <a:prstGeom prst="ellipse">
            <a:avLst/>
          </a:prstGeom>
          <a:solidFill>
            <a:srgbClr val="5FB8C9"/>
          </a:solidFill>
          <a:ln w="12700">
            <a:solidFill>
              <a:srgbClr val="5FB8C9"/>
            </a:solidFill>
            <a:prstDash val="solid"/>
          </a:ln>
        </p:spPr>
        <p:txBody>
          <a:bodyPr/>
          <a:lstStyle/>
          <a:p>
            <a:endParaRPr lang="en-NL"/>
          </a:p>
        </p:txBody>
      </p:sp>
      <p:sp>
        <p:nvSpPr>
          <p:cNvPr id="8" name="Shape 6"/>
          <p:cNvSpPr/>
          <p:nvPr/>
        </p:nvSpPr>
        <p:spPr>
          <a:xfrm flipH="1">
            <a:off x="6255489" y="2377440"/>
            <a:ext cx="693951" cy="718608"/>
          </a:xfrm>
          <a:prstGeom prst="line">
            <a:avLst/>
          </a:prstGeom>
          <a:noFill/>
          <a:ln w="15875">
            <a:solidFill>
              <a:srgbClr val="5FB8C9"/>
            </a:solidFill>
            <a:prstDash val="solid"/>
          </a:ln>
        </p:spPr>
        <p:txBody>
          <a:bodyPr/>
          <a:lstStyle/>
          <a:p>
            <a:endParaRPr lang="en-NL"/>
          </a:p>
        </p:txBody>
      </p:sp>
      <p:sp>
        <p:nvSpPr>
          <p:cNvPr id="9" name="Shape 7"/>
          <p:cNvSpPr/>
          <p:nvPr/>
        </p:nvSpPr>
        <p:spPr>
          <a:xfrm>
            <a:off x="6154905" y="2995464"/>
            <a:ext cx="201168" cy="201168"/>
          </a:xfrm>
          <a:prstGeom prst="ellipse">
            <a:avLst/>
          </a:prstGeom>
          <a:solidFill>
            <a:srgbClr val="5FB8C9"/>
          </a:solidFill>
          <a:ln w="12700">
            <a:solidFill>
              <a:srgbClr val="5FB8C9"/>
            </a:solidFill>
            <a:prstDash val="solid"/>
          </a:ln>
        </p:spPr>
        <p:txBody>
          <a:bodyPr/>
          <a:lstStyle/>
          <a:p>
            <a:endParaRPr lang="en-NL"/>
          </a:p>
        </p:txBody>
      </p:sp>
      <p:sp>
        <p:nvSpPr>
          <p:cNvPr id="10" name="Shape 8"/>
          <p:cNvSpPr/>
          <p:nvPr/>
        </p:nvSpPr>
        <p:spPr>
          <a:xfrm>
            <a:off x="5869430" y="2147877"/>
            <a:ext cx="1080010" cy="229563"/>
          </a:xfrm>
          <a:prstGeom prst="line">
            <a:avLst/>
          </a:prstGeom>
          <a:noFill/>
          <a:ln w="15875">
            <a:solidFill>
              <a:srgbClr val="5FB8C9"/>
            </a:solidFill>
            <a:prstDash val="solid"/>
          </a:ln>
        </p:spPr>
        <p:txBody>
          <a:bodyPr/>
          <a:lstStyle/>
          <a:p>
            <a:endParaRPr lang="en-NL"/>
          </a:p>
        </p:txBody>
      </p:sp>
      <p:sp>
        <p:nvSpPr>
          <p:cNvPr id="11" name="Shape 9"/>
          <p:cNvSpPr/>
          <p:nvPr/>
        </p:nvSpPr>
        <p:spPr>
          <a:xfrm>
            <a:off x="5768846" y="2047293"/>
            <a:ext cx="201168" cy="201168"/>
          </a:xfrm>
          <a:prstGeom prst="ellipse">
            <a:avLst/>
          </a:prstGeom>
          <a:solidFill>
            <a:srgbClr val="5FB8C9"/>
          </a:solidFill>
          <a:ln w="12700">
            <a:solidFill>
              <a:srgbClr val="5FB8C9"/>
            </a:solidFill>
            <a:prstDash val="solid"/>
          </a:ln>
        </p:spPr>
        <p:txBody>
          <a:bodyPr/>
          <a:lstStyle/>
          <a:p>
            <a:endParaRPr lang="en-NL"/>
          </a:p>
        </p:txBody>
      </p:sp>
      <p:sp>
        <p:nvSpPr>
          <p:cNvPr id="12" name="Shape 10"/>
          <p:cNvSpPr/>
          <p:nvPr/>
        </p:nvSpPr>
        <p:spPr>
          <a:xfrm>
            <a:off x="6775704" y="2203704"/>
            <a:ext cx="347472" cy="347472"/>
          </a:xfrm>
          <a:prstGeom prst="ellipse">
            <a:avLst/>
          </a:prstGeom>
          <a:solidFill>
            <a:srgbClr val="E8A838"/>
          </a:solidFill>
          <a:ln w="12700">
            <a:solidFill>
              <a:srgbClr val="E8A838"/>
            </a:solidFill>
            <a:prstDash val="solid"/>
          </a:ln>
        </p:spPr>
        <p:txBody>
          <a:bodyPr/>
          <a:lstStyle/>
          <a:p>
            <a:endParaRPr lang="en-NL"/>
          </a:p>
        </p:txBody>
      </p:sp>
      <p:sp>
        <p:nvSpPr>
          <p:cNvPr id="13" name="Text 11"/>
          <p:cNvSpPr txBox="1"/>
          <p:nvPr/>
        </p:nvSpPr>
        <p:spPr>
          <a:xfrm>
            <a:off x="548640" y="1371600"/>
            <a:ext cx="548640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Solvation Labs</a:t>
            </a:r>
            <a:endParaRPr lang="en-US" sz="4000" dirty="0"/>
          </a:p>
        </p:txBody>
      </p:sp>
      <p:sp>
        <p:nvSpPr>
          <p:cNvPr id="14" name="Text 12"/>
          <p:cNvSpPr txBox="1"/>
          <p:nvPr/>
        </p:nvSpPr>
        <p:spPr>
          <a:xfrm>
            <a:off x="548640" y="2148840"/>
            <a:ext cx="5120640" cy="1005840"/>
          </a:xfrm>
          <a:prstGeom prst="rect">
            <a:avLst/>
          </a:prstGeom>
          <a:noFill/>
          <a:ln/>
        </p:spPr>
        <p:txBody>
          <a:bodyPr wrap="square" lIns="0" tIns="0" rIns="0" bIns="0" rtlCol="0" anchor="ctr"/>
          <a:lstStyle/>
          <a:p>
            <a:pPr marL="0" indent="0">
              <a:buNone/>
            </a:pPr>
            <a:r>
              <a:rPr lang="en-US" sz="1800" dirty="0">
                <a:solidFill>
                  <a:srgbClr val="5FB8C9"/>
                </a:solidFill>
                <a:latin typeface="Calibri" pitchFamily="34" charset="0"/>
                <a:ea typeface="Calibri" pitchFamily="34" charset="-122"/>
                <a:cs typeface="Calibri" pitchFamily="34" charset="-120"/>
              </a:rPr>
              <a:t>Custom battery electrolytes, designed by simulation and validated in the Netherlands.</a:t>
            </a:r>
            <a:endParaRPr lang="en-US" sz="1800" dirty="0"/>
          </a:p>
        </p:txBody>
      </p:sp>
      <p:sp>
        <p:nvSpPr>
          <p:cNvPr id="15" name="Text 13"/>
          <p:cNvSpPr txBox="1"/>
          <p:nvPr/>
        </p:nvSpPr>
        <p:spPr>
          <a:xfrm>
            <a:off x="548640" y="4206240"/>
            <a:ext cx="5486400" cy="274320"/>
          </a:xfrm>
          <a:prstGeom prst="rect">
            <a:avLst/>
          </a:prstGeom>
          <a:noFill/>
          <a:ln/>
        </p:spPr>
        <p:txBody>
          <a:bodyPr wrap="square" lIns="0" tIns="0" rIns="0" bIns="0" rtlCol="0" anchor="ctr"/>
          <a:lstStyle/>
          <a:p>
            <a:pPr marL="0" indent="0">
              <a:buNone/>
            </a:pPr>
            <a:r>
              <a:rPr lang="en-US" sz="1100" dirty="0">
                <a:solidFill>
                  <a:srgbClr val="9AA6B2"/>
                </a:solidFill>
                <a:latin typeface="Calibri" pitchFamily="34" charset="0"/>
                <a:ea typeface="Calibri" pitchFamily="34" charset="-122"/>
                <a:cs typeface="Calibri" pitchFamily="34" charset="-120"/>
              </a:rPr>
              <a:t>Jian He  ·  jian@solvationlabs.com  ·  Utrecht, NL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0F5C6E"/>
                </a:solidFill>
                <a:latin typeface="Calibri" pitchFamily="34" charset="0"/>
                <a:ea typeface="Calibri" pitchFamily="34" charset="-122"/>
                <a:cs typeface="Calibri" pitchFamily="34" charset="-120"/>
              </a:rPr>
              <a:t>Every new battery chemistry is gated by its electrolyte</a:t>
            </a:r>
            <a:endParaRPr lang="en-US" sz="2600" dirty="0"/>
          </a:p>
        </p:txBody>
      </p:sp>
      <p:sp>
        <p:nvSpPr>
          <p:cNvPr id="3" name="Text 1"/>
          <p:cNvSpPr txBox="1"/>
          <p:nvPr/>
        </p:nvSpPr>
        <p:spPr>
          <a:xfrm>
            <a:off x="457200" y="1005840"/>
            <a:ext cx="4754880" cy="1188720"/>
          </a:xfrm>
          <a:prstGeom prst="rect">
            <a:avLst/>
          </a:prstGeom>
          <a:noFill/>
          <a:ln/>
        </p:spPr>
        <p:txBody>
          <a:bodyPr wrap="square" lIns="0" tIns="0" rIns="0" bIns="0" rtlCol="0" anchor="t"/>
          <a:lstStyle/>
          <a:p>
            <a:pPr marL="0" indent="0">
              <a:buNone/>
            </a:pPr>
            <a:r>
              <a:rPr lang="en-US" sz="1400" dirty="0">
                <a:solidFill>
                  <a:srgbClr val="1A2230"/>
                </a:solidFill>
                <a:latin typeface="Calibri" pitchFamily="34" charset="0"/>
                <a:ea typeface="Calibri" pitchFamily="34" charset="-122"/>
                <a:cs typeface="Calibri" pitchFamily="34" charset="-120"/>
              </a:rPr>
              <a:t>Silicon anodes, lithium metal, high-voltage cathodes, sodium-ion: each needs a new formulation from a space of millions of solvent, salt and additive combinations. The industry still finds them by hand.</a:t>
            </a:r>
            <a:endParaRPr lang="en-US" sz="1400" dirty="0"/>
          </a:p>
        </p:txBody>
      </p:sp>
      <p:sp>
        <p:nvSpPr>
          <p:cNvPr id="4" name="Shape 2"/>
          <p:cNvSpPr/>
          <p:nvPr/>
        </p:nvSpPr>
        <p:spPr>
          <a:xfrm>
            <a:off x="457200" y="2514600"/>
            <a:ext cx="896112" cy="640080"/>
          </a:xfrm>
          <a:prstGeom prst="roundRect">
            <a:avLst>
              <a:gd name="adj" fmla="val 11429"/>
            </a:avLst>
          </a:prstGeom>
          <a:solidFill>
            <a:srgbClr val="E3F0F2"/>
          </a:solidFill>
          <a:ln w="12700">
            <a:solidFill>
              <a:srgbClr val="E3F0F2"/>
            </a:solidFill>
            <a:prstDash val="solid"/>
          </a:ln>
        </p:spPr>
        <p:txBody>
          <a:bodyPr/>
          <a:lstStyle/>
          <a:p>
            <a:endParaRPr lang="en-NL"/>
          </a:p>
        </p:txBody>
      </p:sp>
      <p:sp>
        <p:nvSpPr>
          <p:cNvPr id="5" name="Text 3"/>
          <p:cNvSpPr txBox="1"/>
          <p:nvPr/>
        </p:nvSpPr>
        <p:spPr>
          <a:xfrm>
            <a:off x="457200" y="2514600"/>
            <a:ext cx="896112" cy="640080"/>
          </a:xfrm>
          <a:prstGeom prst="rect">
            <a:avLst/>
          </a:prstGeom>
          <a:noFill/>
          <a:ln/>
        </p:spPr>
        <p:txBody>
          <a:bodyPr wrap="square" lIns="381" tIns="381" rIns="381" bIns="381" rtlCol="0" anchor="ctr"/>
          <a:lstStyle/>
          <a:p>
            <a:pPr marL="0" indent="0" algn="ctr">
              <a:buNone/>
            </a:pPr>
            <a:r>
              <a:rPr lang="en-US" sz="1050" b="1" dirty="0">
                <a:solidFill>
                  <a:srgbClr val="0F5C6E"/>
                </a:solidFill>
                <a:latin typeface="Calibri" pitchFamily="34" charset="0"/>
                <a:ea typeface="Calibri" pitchFamily="34" charset="-122"/>
                <a:cs typeface="Calibri" pitchFamily="34" charset="-120"/>
              </a:rPr>
              <a:t>Mix</a:t>
            </a:r>
            <a:endParaRPr lang="en-US" sz="1050" dirty="0"/>
          </a:p>
        </p:txBody>
      </p:sp>
      <p:sp>
        <p:nvSpPr>
          <p:cNvPr id="6" name="Shape 4"/>
          <p:cNvSpPr/>
          <p:nvPr/>
        </p:nvSpPr>
        <p:spPr>
          <a:xfrm>
            <a:off x="1444752" y="2514600"/>
            <a:ext cx="896112" cy="640080"/>
          </a:xfrm>
          <a:prstGeom prst="roundRect">
            <a:avLst>
              <a:gd name="adj" fmla="val 11429"/>
            </a:avLst>
          </a:prstGeom>
          <a:solidFill>
            <a:srgbClr val="E3F0F2"/>
          </a:solidFill>
          <a:ln w="12700">
            <a:solidFill>
              <a:srgbClr val="E3F0F2"/>
            </a:solidFill>
            <a:prstDash val="solid"/>
          </a:ln>
        </p:spPr>
        <p:txBody>
          <a:bodyPr/>
          <a:lstStyle/>
          <a:p>
            <a:endParaRPr lang="en-NL"/>
          </a:p>
        </p:txBody>
      </p:sp>
      <p:sp>
        <p:nvSpPr>
          <p:cNvPr id="7" name="Text 5"/>
          <p:cNvSpPr txBox="1"/>
          <p:nvPr/>
        </p:nvSpPr>
        <p:spPr>
          <a:xfrm>
            <a:off x="1444752" y="2514600"/>
            <a:ext cx="896112" cy="640080"/>
          </a:xfrm>
          <a:prstGeom prst="rect">
            <a:avLst/>
          </a:prstGeom>
          <a:noFill/>
          <a:ln/>
        </p:spPr>
        <p:txBody>
          <a:bodyPr wrap="square" lIns="381" tIns="381" rIns="381" bIns="381" rtlCol="0" anchor="ctr"/>
          <a:lstStyle/>
          <a:p>
            <a:pPr marL="0" indent="0" algn="ctr">
              <a:buNone/>
            </a:pPr>
            <a:r>
              <a:rPr lang="en-US" sz="1050" b="1" dirty="0">
                <a:solidFill>
                  <a:srgbClr val="0F5C6E"/>
                </a:solidFill>
                <a:latin typeface="Calibri" pitchFamily="34" charset="0"/>
                <a:ea typeface="Calibri" pitchFamily="34" charset="-122"/>
                <a:cs typeface="Calibri" pitchFamily="34" charset="-120"/>
              </a:rPr>
              <a:t>Build cells</a:t>
            </a:r>
            <a:endParaRPr lang="en-US" sz="1050" dirty="0"/>
          </a:p>
        </p:txBody>
      </p:sp>
      <p:sp>
        <p:nvSpPr>
          <p:cNvPr id="8" name="Shape 6"/>
          <p:cNvSpPr/>
          <p:nvPr/>
        </p:nvSpPr>
        <p:spPr>
          <a:xfrm>
            <a:off x="2432304" y="2514600"/>
            <a:ext cx="896112" cy="640080"/>
          </a:xfrm>
          <a:prstGeom prst="roundRect">
            <a:avLst>
              <a:gd name="adj" fmla="val 11429"/>
            </a:avLst>
          </a:prstGeom>
          <a:solidFill>
            <a:srgbClr val="E8A838"/>
          </a:solidFill>
          <a:ln w="12700">
            <a:solidFill>
              <a:srgbClr val="E8A838"/>
            </a:solidFill>
            <a:prstDash val="solid"/>
          </a:ln>
        </p:spPr>
        <p:txBody>
          <a:bodyPr/>
          <a:lstStyle/>
          <a:p>
            <a:endParaRPr lang="en-NL"/>
          </a:p>
        </p:txBody>
      </p:sp>
      <p:sp>
        <p:nvSpPr>
          <p:cNvPr id="9" name="Text 7"/>
          <p:cNvSpPr txBox="1"/>
          <p:nvPr/>
        </p:nvSpPr>
        <p:spPr>
          <a:xfrm>
            <a:off x="2432304" y="2514600"/>
            <a:ext cx="896112" cy="640080"/>
          </a:xfrm>
          <a:prstGeom prst="rect">
            <a:avLst/>
          </a:prstGeom>
          <a:noFill/>
          <a:ln/>
        </p:spPr>
        <p:txBody>
          <a:bodyPr wrap="square" lIns="381" tIns="381" rIns="381" bIns="381"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Cycle 4 to 8 weeks</a:t>
            </a:r>
            <a:endParaRPr lang="en-US" sz="1050" dirty="0"/>
          </a:p>
        </p:txBody>
      </p:sp>
      <p:sp>
        <p:nvSpPr>
          <p:cNvPr id="10" name="Shape 8"/>
          <p:cNvSpPr/>
          <p:nvPr/>
        </p:nvSpPr>
        <p:spPr>
          <a:xfrm>
            <a:off x="3419856" y="2514600"/>
            <a:ext cx="896112" cy="640080"/>
          </a:xfrm>
          <a:prstGeom prst="roundRect">
            <a:avLst>
              <a:gd name="adj" fmla="val 11429"/>
            </a:avLst>
          </a:prstGeom>
          <a:solidFill>
            <a:srgbClr val="E3F0F2"/>
          </a:solidFill>
          <a:ln w="12700">
            <a:solidFill>
              <a:srgbClr val="E3F0F2"/>
            </a:solidFill>
            <a:prstDash val="solid"/>
          </a:ln>
        </p:spPr>
        <p:txBody>
          <a:bodyPr/>
          <a:lstStyle/>
          <a:p>
            <a:endParaRPr lang="en-NL"/>
          </a:p>
        </p:txBody>
      </p:sp>
      <p:sp>
        <p:nvSpPr>
          <p:cNvPr id="11" name="Text 9"/>
          <p:cNvSpPr txBox="1"/>
          <p:nvPr/>
        </p:nvSpPr>
        <p:spPr>
          <a:xfrm>
            <a:off x="3419856" y="2514600"/>
            <a:ext cx="896112" cy="640080"/>
          </a:xfrm>
          <a:prstGeom prst="rect">
            <a:avLst/>
          </a:prstGeom>
          <a:noFill/>
          <a:ln/>
        </p:spPr>
        <p:txBody>
          <a:bodyPr wrap="square" lIns="381" tIns="381" rIns="381" bIns="381" rtlCol="0" anchor="ctr"/>
          <a:lstStyle/>
          <a:p>
            <a:pPr marL="0" indent="0" algn="ctr">
              <a:buNone/>
            </a:pPr>
            <a:r>
              <a:rPr lang="en-US" sz="1050" b="1" dirty="0">
                <a:solidFill>
                  <a:srgbClr val="0F5C6E"/>
                </a:solidFill>
                <a:latin typeface="Calibri" pitchFamily="34" charset="0"/>
                <a:ea typeface="Calibri" pitchFamily="34" charset="-122"/>
                <a:cs typeface="Calibri" pitchFamily="34" charset="-120"/>
              </a:rPr>
              <a:t>Analyse</a:t>
            </a:r>
            <a:endParaRPr lang="en-US" sz="1050" dirty="0"/>
          </a:p>
        </p:txBody>
      </p:sp>
      <p:sp>
        <p:nvSpPr>
          <p:cNvPr id="12" name="Shape 10"/>
          <p:cNvSpPr/>
          <p:nvPr/>
        </p:nvSpPr>
        <p:spPr>
          <a:xfrm>
            <a:off x="4407408" y="2514600"/>
            <a:ext cx="896112" cy="640080"/>
          </a:xfrm>
          <a:prstGeom prst="roundRect">
            <a:avLst>
              <a:gd name="adj" fmla="val 11429"/>
            </a:avLst>
          </a:prstGeom>
          <a:solidFill>
            <a:srgbClr val="E3F0F2"/>
          </a:solidFill>
          <a:ln w="12700">
            <a:solidFill>
              <a:srgbClr val="E3F0F2"/>
            </a:solidFill>
            <a:prstDash val="solid"/>
          </a:ln>
        </p:spPr>
        <p:txBody>
          <a:bodyPr/>
          <a:lstStyle/>
          <a:p>
            <a:endParaRPr lang="en-NL"/>
          </a:p>
        </p:txBody>
      </p:sp>
      <p:sp>
        <p:nvSpPr>
          <p:cNvPr id="13" name="Text 11"/>
          <p:cNvSpPr txBox="1"/>
          <p:nvPr/>
        </p:nvSpPr>
        <p:spPr>
          <a:xfrm>
            <a:off x="4407408" y="2514600"/>
            <a:ext cx="896112" cy="640080"/>
          </a:xfrm>
          <a:prstGeom prst="rect">
            <a:avLst/>
          </a:prstGeom>
          <a:noFill/>
          <a:ln/>
        </p:spPr>
        <p:txBody>
          <a:bodyPr wrap="square" lIns="381" tIns="381" rIns="381" bIns="381" rtlCol="0" anchor="ctr"/>
          <a:lstStyle/>
          <a:p>
            <a:pPr marL="0" indent="0" algn="ctr">
              <a:buNone/>
            </a:pPr>
            <a:r>
              <a:rPr lang="en-US" sz="1050" b="1" dirty="0">
                <a:solidFill>
                  <a:srgbClr val="0F5C6E"/>
                </a:solidFill>
                <a:latin typeface="Calibri" pitchFamily="34" charset="0"/>
                <a:ea typeface="Calibri" pitchFamily="34" charset="-122"/>
                <a:cs typeface="Calibri" pitchFamily="34" charset="-120"/>
              </a:rPr>
              <a:t>Guess again</a:t>
            </a:r>
            <a:endParaRPr lang="en-US" sz="1050" dirty="0"/>
          </a:p>
        </p:txBody>
      </p:sp>
      <p:sp>
        <p:nvSpPr>
          <p:cNvPr id="14" name="Text 12"/>
          <p:cNvSpPr txBox="1"/>
          <p:nvPr/>
        </p:nvSpPr>
        <p:spPr>
          <a:xfrm>
            <a:off x="457200" y="3246120"/>
            <a:ext cx="4937760" cy="274320"/>
          </a:xfrm>
          <a:prstGeom prst="rect">
            <a:avLst/>
          </a:prstGeom>
          <a:noFill/>
          <a:ln/>
        </p:spPr>
        <p:txBody>
          <a:bodyPr wrap="square" lIns="0" tIns="0" rIns="0" bIns="0" rtlCol="0" anchor="ctr"/>
          <a:lstStyle/>
          <a:p>
            <a:pPr marL="0" indent="0">
              <a:buNone/>
            </a:pPr>
            <a:r>
              <a:rPr lang="en-US" sz="1000" i="1" dirty="0">
                <a:solidFill>
                  <a:srgbClr val="5B6672"/>
                </a:solidFill>
                <a:latin typeface="Calibri" pitchFamily="34" charset="0"/>
                <a:ea typeface="Calibri" pitchFamily="34" charset="-122"/>
                <a:cs typeface="Calibri" pitchFamily="34" charset="-120"/>
              </a:rPr>
              <a:t>One iteration of today's trial-and-error loop</a:t>
            </a:r>
            <a:endParaRPr lang="en-US" sz="1000" dirty="0"/>
          </a:p>
        </p:txBody>
      </p:sp>
      <p:sp>
        <p:nvSpPr>
          <p:cNvPr id="16" name="Shape 14"/>
          <p:cNvSpPr/>
          <p:nvPr/>
        </p:nvSpPr>
        <p:spPr>
          <a:xfrm>
            <a:off x="5669280" y="1005840"/>
            <a:ext cx="3017520" cy="3520440"/>
          </a:xfrm>
          <a:prstGeom prst="roundRect">
            <a:avLst>
              <a:gd name="adj" fmla="val 3030"/>
            </a:avLst>
          </a:prstGeom>
          <a:solidFill>
            <a:srgbClr val="F6F8F9"/>
          </a:solidFill>
          <a:ln w="9525">
            <a:solidFill>
              <a:srgbClr val="D3DAE0"/>
            </a:solidFill>
            <a:prstDash val="solid"/>
          </a:ln>
        </p:spPr>
        <p:txBody>
          <a:bodyPr/>
          <a:lstStyle/>
          <a:p>
            <a:endParaRPr lang="en-NL"/>
          </a:p>
        </p:txBody>
      </p:sp>
      <p:sp>
        <p:nvSpPr>
          <p:cNvPr id="17" name="Text 15"/>
          <p:cNvSpPr txBox="1"/>
          <p:nvPr/>
        </p:nvSpPr>
        <p:spPr>
          <a:xfrm>
            <a:off x="5852160" y="1188720"/>
            <a:ext cx="2651760" cy="822960"/>
          </a:xfrm>
          <a:prstGeom prst="rect">
            <a:avLst/>
          </a:prstGeom>
          <a:noFill/>
          <a:ln/>
        </p:spPr>
        <p:txBody>
          <a:bodyPr wrap="square" lIns="0" tIns="0" rIns="0" bIns="0" rtlCol="0" anchor="ctr"/>
          <a:lstStyle/>
          <a:p>
            <a:pPr marL="0" indent="0">
              <a:buNone/>
            </a:pPr>
            <a:r>
              <a:rPr lang="en-US" sz="5400" b="1" dirty="0">
                <a:solidFill>
                  <a:srgbClr val="0F5C6E"/>
                </a:solidFill>
                <a:latin typeface="Calibri" pitchFamily="34" charset="0"/>
                <a:ea typeface="Calibri" pitchFamily="34" charset="-122"/>
                <a:cs typeface="Calibri" pitchFamily="34" charset="-120"/>
              </a:rPr>
              <a:t>4 to 8</a:t>
            </a:r>
            <a:endParaRPr lang="en-US" sz="5400" dirty="0"/>
          </a:p>
        </p:txBody>
      </p:sp>
      <p:sp>
        <p:nvSpPr>
          <p:cNvPr id="18" name="Text 16"/>
          <p:cNvSpPr txBox="1"/>
          <p:nvPr/>
        </p:nvSpPr>
        <p:spPr>
          <a:xfrm>
            <a:off x="5852160" y="2011680"/>
            <a:ext cx="2651760" cy="457200"/>
          </a:xfrm>
          <a:prstGeom prst="rect">
            <a:avLst/>
          </a:prstGeom>
          <a:noFill/>
          <a:ln/>
        </p:spPr>
        <p:txBody>
          <a:bodyPr wrap="square" lIns="0" tIns="0" rIns="0" bIns="0" rtlCol="0" anchor="ctr"/>
          <a:lstStyle/>
          <a:p>
            <a:pPr marL="0" indent="0">
              <a:buNone/>
            </a:pPr>
            <a:r>
              <a:rPr lang="en-US" sz="1200" dirty="0">
                <a:solidFill>
                  <a:srgbClr val="1A2230"/>
                </a:solidFill>
                <a:latin typeface="Calibri" pitchFamily="34" charset="0"/>
                <a:ea typeface="Calibri" pitchFamily="34" charset="-122"/>
                <a:cs typeface="Calibri" pitchFamily="34" charset="-120"/>
              </a:rPr>
              <a:t>weeks per formulation iteration in the lab</a:t>
            </a:r>
            <a:endParaRPr lang="en-US" sz="1200" dirty="0"/>
          </a:p>
        </p:txBody>
      </p:sp>
      <p:sp>
        <p:nvSpPr>
          <p:cNvPr id="19" name="Text 17"/>
          <p:cNvSpPr txBox="1"/>
          <p:nvPr/>
        </p:nvSpPr>
        <p:spPr>
          <a:xfrm>
            <a:off x="5852160" y="2697480"/>
            <a:ext cx="2651760" cy="640080"/>
          </a:xfrm>
          <a:prstGeom prst="rect">
            <a:avLst/>
          </a:prstGeom>
          <a:noFill/>
          <a:ln/>
        </p:spPr>
        <p:txBody>
          <a:bodyPr wrap="square" lIns="0" tIns="0" rIns="0" bIns="0" rtlCol="0" anchor="ctr"/>
          <a:lstStyle/>
          <a:p>
            <a:pPr marL="0" indent="0">
              <a:buNone/>
            </a:pPr>
            <a:r>
              <a:rPr lang="en-US" sz="3600" b="1" dirty="0">
                <a:solidFill>
                  <a:srgbClr val="0F5C6E"/>
                </a:solidFill>
                <a:latin typeface="Calibri" pitchFamily="34" charset="0"/>
                <a:ea typeface="Calibri" pitchFamily="34" charset="-122"/>
                <a:cs typeface="Calibri" pitchFamily="34" charset="-120"/>
              </a:rPr>
              <a:t>millions</a:t>
            </a:r>
            <a:endParaRPr lang="en-US" sz="3600" dirty="0"/>
          </a:p>
        </p:txBody>
      </p:sp>
      <p:sp>
        <p:nvSpPr>
          <p:cNvPr id="20" name="Text 18"/>
          <p:cNvSpPr txBox="1"/>
          <p:nvPr/>
        </p:nvSpPr>
        <p:spPr>
          <a:xfrm>
            <a:off x="5852160" y="3337560"/>
            <a:ext cx="2651760" cy="640080"/>
          </a:xfrm>
          <a:prstGeom prst="rect">
            <a:avLst/>
          </a:prstGeom>
          <a:noFill/>
          <a:ln/>
        </p:spPr>
        <p:txBody>
          <a:bodyPr wrap="square" lIns="0" tIns="0" rIns="0" bIns="0" rtlCol="0" anchor="ctr"/>
          <a:lstStyle/>
          <a:p>
            <a:pPr marL="0" indent="0">
              <a:buNone/>
            </a:pPr>
            <a:r>
              <a:rPr lang="en-US" sz="1200" dirty="0">
                <a:solidFill>
                  <a:srgbClr val="1A2230"/>
                </a:solidFill>
                <a:latin typeface="Calibri" pitchFamily="34" charset="0"/>
                <a:ea typeface="Calibri" pitchFamily="34" charset="-122"/>
                <a:cs typeface="Calibri" pitchFamily="34" charset="-120"/>
              </a:rPr>
              <a:t>of candidate solvent, salt and additive combinations to explore</a:t>
            </a:r>
            <a:endParaRPr lang="en-US" sz="1200" dirty="0"/>
          </a:p>
        </p:txBody>
      </p:sp>
      <p:sp>
        <p:nvSpPr>
          <p:cNvPr id="21" name="Text 19"/>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B6672"/>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0F5C6E"/>
                </a:solidFill>
                <a:latin typeface="Calibri" pitchFamily="34" charset="0"/>
                <a:ea typeface="Calibri" pitchFamily="34" charset="-122"/>
                <a:cs typeface="Calibri" pitchFamily="34" charset="-120"/>
              </a:rPr>
              <a:t>NL builds new anodes, but not the electrolyte</a:t>
            </a:r>
            <a:endParaRPr lang="en-US" sz="2600" dirty="0"/>
          </a:p>
        </p:txBody>
      </p:sp>
      <p:sp>
        <p:nvSpPr>
          <p:cNvPr id="3" name="Shape 1"/>
          <p:cNvSpPr/>
          <p:nvPr/>
        </p:nvSpPr>
        <p:spPr>
          <a:xfrm>
            <a:off x="457200" y="1051560"/>
            <a:ext cx="2606040" cy="1234440"/>
          </a:xfrm>
          <a:prstGeom prst="roundRect">
            <a:avLst>
              <a:gd name="adj" fmla="val 7407"/>
            </a:avLst>
          </a:prstGeom>
          <a:solidFill>
            <a:srgbClr val="E3F0F2"/>
          </a:solidFill>
          <a:ln w="12700">
            <a:solidFill>
              <a:srgbClr val="E3F0F2"/>
            </a:solidFill>
            <a:prstDash val="solid"/>
          </a:ln>
        </p:spPr>
        <p:txBody>
          <a:bodyPr/>
          <a:lstStyle/>
          <a:p>
            <a:endParaRPr lang="en-NL"/>
          </a:p>
        </p:txBody>
      </p:sp>
      <p:sp>
        <p:nvSpPr>
          <p:cNvPr id="4" name="Text 2"/>
          <p:cNvSpPr txBox="1"/>
          <p:nvPr/>
        </p:nvSpPr>
        <p:spPr>
          <a:xfrm>
            <a:off x="621792" y="1143000"/>
            <a:ext cx="2286000" cy="320040"/>
          </a:xfrm>
          <a:prstGeom prst="rect">
            <a:avLst/>
          </a:prstGeom>
          <a:noFill/>
          <a:ln/>
        </p:spPr>
        <p:txBody>
          <a:bodyPr wrap="square" lIns="0" tIns="0" rIns="0" bIns="0" rtlCol="0" anchor="ctr"/>
          <a:lstStyle/>
          <a:p>
            <a:pPr marL="0" indent="0">
              <a:buNone/>
            </a:pPr>
            <a:r>
              <a:rPr lang="en-US" sz="1500" b="1" dirty="0">
                <a:solidFill>
                  <a:srgbClr val="0F5C6E"/>
                </a:solidFill>
                <a:latin typeface="Calibri" pitchFamily="34" charset="0"/>
                <a:ea typeface="Calibri" pitchFamily="34" charset="-122"/>
                <a:cs typeface="Calibri" pitchFamily="34" charset="-120"/>
              </a:rPr>
              <a:t>LeydenJar</a:t>
            </a:r>
            <a:endParaRPr lang="en-US" sz="1500" dirty="0"/>
          </a:p>
        </p:txBody>
      </p:sp>
      <p:sp>
        <p:nvSpPr>
          <p:cNvPr id="5" name="Text 3"/>
          <p:cNvSpPr txBox="1"/>
          <p:nvPr/>
        </p:nvSpPr>
        <p:spPr>
          <a:xfrm>
            <a:off x="621792" y="1481328"/>
            <a:ext cx="2286000" cy="731520"/>
          </a:xfrm>
          <a:prstGeom prst="rect">
            <a:avLst/>
          </a:prstGeom>
          <a:noFill/>
          <a:ln/>
        </p:spPr>
        <p:txBody>
          <a:bodyPr wrap="square" lIns="0" tIns="0" rIns="0" bIns="0" rtlCol="0" anchor="t"/>
          <a:lstStyle/>
          <a:p>
            <a:pPr marL="0" indent="0">
              <a:buNone/>
            </a:pPr>
            <a:r>
              <a:rPr lang="en-US" sz="1100" dirty="0">
                <a:solidFill>
                  <a:srgbClr val="1A2230"/>
                </a:solidFill>
                <a:latin typeface="Calibri" pitchFamily="34" charset="0"/>
                <a:ea typeface="Calibri" pitchFamily="34" charset="-122"/>
                <a:cs typeface="Calibri" pitchFamily="34" charset="-120"/>
              </a:rPr>
              <a:t>Pure-silicon anode foil. €43M raised. Full cells made in Shenzhen.</a:t>
            </a:r>
            <a:endParaRPr lang="en-US" sz="1100" dirty="0"/>
          </a:p>
        </p:txBody>
      </p:sp>
      <p:sp>
        <p:nvSpPr>
          <p:cNvPr id="6" name="Shape 4"/>
          <p:cNvSpPr/>
          <p:nvPr/>
        </p:nvSpPr>
        <p:spPr>
          <a:xfrm>
            <a:off x="3246120" y="1051560"/>
            <a:ext cx="2606040" cy="1234440"/>
          </a:xfrm>
          <a:prstGeom prst="roundRect">
            <a:avLst>
              <a:gd name="adj" fmla="val 7407"/>
            </a:avLst>
          </a:prstGeom>
          <a:solidFill>
            <a:srgbClr val="E3F0F2"/>
          </a:solidFill>
          <a:ln w="12700">
            <a:solidFill>
              <a:srgbClr val="E3F0F2"/>
            </a:solidFill>
            <a:prstDash val="solid"/>
          </a:ln>
        </p:spPr>
        <p:txBody>
          <a:bodyPr/>
          <a:lstStyle/>
          <a:p>
            <a:endParaRPr lang="en-NL"/>
          </a:p>
        </p:txBody>
      </p:sp>
      <p:sp>
        <p:nvSpPr>
          <p:cNvPr id="7" name="Text 5"/>
          <p:cNvSpPr txBox="1"/>
          <p:nvPr/>
        </p:nvSpPr>
        <p:spPr>
          <a:xfrm>
            <a:off x="3410712" y="1143000"/>
            <a:ext cx="2286000" cy="320040"/>
          </a:xfrm>
          <a:prstGeom prst="rect">
            <a:avLst/>
          </a:prstGeom>
          <a:noFill/>
          <a:ln/>
        </p:spPr>
        <p:txBody>
          <a:bodyPr wrap="square" lIns="0" tIns="0" rIns="0" bIns="0" rtlCol="0" anchor="ctr"/>
          <a:lstStyle/>
          <a:p>
            <a:pPr marL="0" indent="0">
              <a:buNone/>
            </a:pPr>
            <a:r>
              <a:rPr lang="en-US" sz="1500" b="1" dirty="0">
                <a:solidFill>
                  <a:srgbClr val="0F5C6E"/>
                </a:solidFill>
                <a:latin typeface="Calibri" pitchFamily="34" charset="0"/>
                <a:ea typeface="Calibri" pitchFamily="34" charset="-122"/>
                <a:cs typeface="Calibri" pitchFamily="34" charset="-120"/>
              </a:rPr>
              <a:t>LionVolt</a:t>
            </a:r>
            <a:endParaRPr lang="en-US" sz="1500" dirty="0"/>
          </a:p>
        </p:txBody>
      </p:sp>
      <p:sp>
        <p:nvSpPr>
          <p:cNvPr id="8" name="Text 6"/>
          <p:cNvSpPr txBox="1"/>
          <p:nvPr/>
        </p:nvSpPr>
        <p:spPr>
          <a:xfrm>
            <a:off x="3410712" y="1481328"/>
            <a:ext cx="2286000" cy="731520"/>
          </a:xfrm>
          <a:prstGeom prst="rect">
            <a:avLst/>
          </a:prstGeom>
          <a:noFill/>
          <a:ln/>
        </p:spPr>
        <p:txBody>
          <a:bodyPr wrap="square" lIns="0" tIns="0" rIns="0" bIns="0" rtlCol="0" anchor="t"/>
          <a:lstStyle/>
          <a:p>
            <a:pPr marL="0" indent="0">
              <a:buNone/>
            </a:pPr>
            <a:r>
              <a:rPr lang="en-US" sz="1100" dirty="0">
                <a:solidFill>
                  <a:srgbClr val="1A2230"/>
                </a:solidFill>
                <a:latin typeface="Calibri" pitchFamily="34" charset="0"/>
                <a:ea typeface="Calibri" pitchFamily="34" charset="-122"/>
                <a:cs typeface="Calibri" pitchFamily="34" charset="-120"/>
              </a:rPr>
              <a:t>3D lithium-metal anode. About €30M raised. Cells contracted in Korea.</a:t>
            </a:r>
            <a:endParaRPr lang="en-US" sz="1100" dirty="0"/>
          </a:p>
        </p:txBody>
      </p:sp>
      <p:sp>
        <p:nvSpPr>
          <p:cNvPr id="9" name="Shape 7"/>
          <p:cNvSpPr/>
          <p:nvPr/>
        </p:nvSpPr>
        <p:spPr>
          <a:xfrm>
            <a:off x="6035040" y="1051560"/>
            <a:ext cx="2606040" cy="1234440"/>
          </a:xfrm>
          <a:prstGeom prst="roundRect">
            <a:avLst>
              <a:gd name="adj" fmla="val 7407"/>
            </a:avLst>
          </a:prstGeom>
          <a:solidFill>
            <a:srgbClr val="E3F0F2"/>
          </a:solidFill>
          <a:ln w="12700">
            <a:solidFill>
              <a:srgbClr val="E3F0F2"/>
            </a:solidFill>
            <a:prstDash val="solid"/>
          </a:ln>
        </p:spPr>
        <p:txBody>
          <a:bodyPr/>
          <a:lstStyle/>
          <a:p>
            <a:endParaRPr lang="en-NL"/>
          </a:p>
        </p:txBody>
      </p:sp>
      <p:sp>
        <p:nvSpPr>
          <p:cNvPr id="10" name="Text 8"/>
          <p:cNvSpPr txBox="1"/>
          <p:nvPr/>
        </p:nvSpPr>
        <p:spPr>
          <a:xfrm>
            <a:off x="6199632" y="1143000"/>
            <a:ext cx="2286000" cy="320040"/>
          </a:xfrm>
          <a:prstGeom prst="rect">
            <a:avLst/>
          </a:prstGeom>
          <a:noFill/>
          <a:ln/>
        </p:spPr>
        <p:txBody>
          <a:bodyPr wrap="square" lIns="0" tIns="0" rIns="0" bIns="0" rtlCol="0" anchor="ctr"/>
          <a:lstStyle/>
          <a:p>
            <a:pPr marL="0" indent="0">
              <a:buNone/>
            </a:pPr>
            <a:r>
              <a:rPr lang="en-US" sz="1500" b="1" dirty="0">
                <a:solidFill>
                  <a:srgbClr val="0F5C6E"/>
                </a:solidFill>
                <a:latin typeface="Calibri" pitchFamily="34" charset="0"/>
                <a:ea typeface="Calibri" pitchFamily="34" charset="-122"/>
                <a:cs typeface="Calibri" pitchFamily="34" charset="-120"/>
              </a:rPr>
              <a:t>E-magy</a:t>
            </a:r>
            <a:endParaRPr lang="en-US" sz="1500" dirty="0"/>
          </a:p>
        </p:txBody>
      </p:sp>
      <p:sp>
        <p:nvSpPr>
          <p:cNvPr id="11" name="Text 9"/>
          <p:cNvSpPr txBox="1"/>
          <p:nvPr/>
        </p:nvSpPr>
        <p:spPr>
          <a:xfrm>
            <a:off x="6199632" y="1481328"/>
            <a:ext cx="2286000" cy="731520"/>
          </a:xfrm>
          <a:prstGeom prst="rect">
            <a:avLst/>
          </a:prstGeom>
          <a:noFill/>
          <a:ln/>
        </p:spPr>
        <p:txBody>
          <a:bodyPr wrap="square" lIns="0" tIns="0" rIns="0" bIns="0" rtlCol="0" anchor="t"/>
          <a:lstStyle/>
          <a:p>
            <a:pPr marL="0" indent="0">
              <a:buNone/>
            </a:pPr>
            <a:r>
              <a:rPr lang="en-US" sz="1100" dirty="0">
                <a:solidFill>
                  <a:srgbClr val="1A2230"/>
                </a:solidFill>
                <a:latin typeface="Calibri" pitchFamily="34" charset="0"/>
                <a:ea typeface="Calibri" pitchFamily="34" charset="-122"/>
                <a:cs typeface="Calibri" pitchFamily="34" charset="-120"/>
              </a:rPr>
              <a:t>Porous silicon powder. €20M+ raised. No cell partner yet.</a:t>
            </a:r>
            <a:endParaRPr lang="en-US" sz="1100" dirty="0"/>
          </a:p>
        </p:txBody>
      </p:sp>
      <p:sp>
        <p:nvSpPr>
          <p:cNvPr id="12" name="Text 10"/>
          <p:cNvSpPr txBox="1"/>
          <p:nvPr/>
        </p:nvSpPr>
        <p:spPr>
          <a:xfrm>
            <a:off x="457200" y="2359152"/>
            <a:ext cx="8229600" cy="274320"/>
          </a:xfrm>
          <a:prstGeom prst="rect">
            <a:avLst/>
          </a:prstGeom>
          <a:noFill/>
          <a:ln/>
        </p:spPr>
        <p:txBody>
          <a:bodyPr wrap="square" lIns="0" tIns="0" rIns="0" bIns="0" rtlCol="0" anchor="ctr"/>
          <a:lstStyle/>
          <a:p>
            <a:pPr marL="0" indent="0">
              <a:buNone/>
            </a:pPr>
            <a:r>
              <a:rPr lang="en-US" sz="1000" i="1" dirty="0">
                <a:solidFill>
                  <a:srgbClr val="5B6672"/>
                </a:solidFill>
                <a:latin typeface="Calibri" pitchFamily="34" charset="0"/>
                <a:ea typeface="Calibri" pitchFamily="34" charset="-122"/>
                <a:cs typeface="Calibri" pitchFamily="34" charset="-120"/>
              </a:rPr>
              <a:t>Dutch anode startups, all BatteryNL consortium members. Each buys generic electrolyte and validates in Asia.</a:t>
            </a:r>
            <a:endParaRPr lang="en-US" sz="1000" dirty="0"/>
          </a:p>
        </p:txBody>
      </p:sp>
      <p:sp>
        <p:nvSpPr>
          <p:cNvPr id="13" name="Shape 11"/>
          <p:cNvSpPr/>
          <p:nvPr/>
        </p:nvSpPr>
        <p:spPr>
          <a:xfrm>
            <a:off x="457200" y="2834640"/>
            <a:ext cx="8229600" cy="1417320"/>
          </a:xfrm>
          <a:prstGeom prst="rect">
            <a:avLst/>
          </a:prstGeom>
          <a:solidFill>
            <a:srgbClr val="0B2A33"/>
          </a:solidFill>
          <a:ln w="12700">
            <a:solidFill>
              <a:srgbClr val="0B2A33"/>
            </a:solidFill>
            <a:prstDash val="solid"/>
          </a:ln>
        </p:spPr>
        <p:txBody>
          <a:bodyPr/>
          <a:lstStyle/>
          <a:p>
            <a:endParaRPr lang="en-NL"/>
          </a:p>
        </p:txBody>
      </p:sp>
      <p:sp>
        <p:nvSpPr>
          <p:cNvPr id="14" name="Text 12"/>
          <p:cNvSpPr txBox="1"/>
          <p:nvPr/>
        </p:nvSpPr>
        <p:spPr>
          <a:xfrm>
            <a:off x="685800" y="2926080"/>
            <a:ext cx="7772400" cy="54864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“Voor de noodzakelijke batterijen zijn Nederland en Europa echter éénzijdig afhankelijk van Azië.”</a:t>
            </a:r>
            <a:endParaRPr lang="en-US" sz="1500" dirty="0"/>
          </a:p>
        </p:txBody>
      </p:sp>
      <p:sp>
        <p:nvSpPr>
          <p:cNvPr id="15" name="Text 13"/>
          <p:cNvSpPr txBox="1"/>
          <p:nvPr/>
        </p:nvSpPr>
        <p:spPr>
          <a:xfrm>
            <a:off x="685800" y="3474720"/>
            <a:ext cx="7772400" cy="731520"/>
          </a:xfrm>
          <a:prstGeom prst="rect">
            <a:avLst/>
          </a:prstGeom>
          <a:noFill/>
          <a:ln/>
        </p:spPr>
        <p:txBody>
          <a:bodyPr wrap="square" lIns="0" tIns="0" rIns="0" bIns="0" rtlCol="0" anchor="t"/>
          <a:lstStyle/>
          <a:p>
            <a:pPr marL="0" indent="0">
              <a:buNone/>
            </a:pPr>
            <a:r>
              <a:rPr lang="en-US" sz="1050" dirty="0">
                <a:solidFill>
                  <a:srgbClr val="5FB8C9"/>
                </a:solidFill>
                <a:latin typeface="Calibri" pitchFamily="34" charset="0"/>
                <a:ea typeface="Calibri" pitchFamily="34" charset="-122"/>
                <a:cs typeface="Calibri" pitchFamily="34" charset="-120"/>
              </a:rPr>
              <a:t>“For the batteries it needs, the Netherlands and Europe are one-sidedly dependent on Asia.”  Ministry of Economic Affairs, battery strategy progress report, December 2025. The same report names scale-up facilities and financing as the gaps.</a:t>
            </a:r>
            <a:endParaRPr lang="en-US" sz="1050" dirty="0"/>
          </a:p>
        </p:txBody>
      </p:sp>
      <p:sp>
        <p:nvSpPr>
          <p:cNvPr id="16" name="Text 14"/>
          <p:cNvSpPr txBox="1"/>
          <p:nvPr/>
        </p:nvSpPr>
        <p:spPr>
          <a:xfrm>
            <a:off x="457200" y="4343400"/>
            <a:ext cx="8229600" cy="365760"/>
          </a:xfrm>
          <a:prstGeom prst="rect">
            <a:avLst/>
          </a:prstGeom>
          <a:noFill/>
          <a:ln/>
        </p:spPr>
        <p:txBody>
          <a:bodyPr wrap="square" lIns="0" tIns="0" rIns="0" bIns="0" rtlCol="0" anchor="ctr"/>
          <a:lstStyle/>
          <a:p>
            <a:pPr marL="0" indent="0">
              <a:buNone/>
            </a:pPr>
            <a:r>
              <a:rPr lang="en-US" sz="1300" b="1" dirty="0">
                <a:solidFill>
                  <a:srgbClr val="0F5C6E"/>
                </a:solidFill>
                <a:latin typeface="Calibri" pitchFamily="34" charset="0"/>
                <a:ea typeface="Calibri" pitchFamily="34" charset="-122"/>
                <a:cs typeface="Calibri" pitchFamily="34" charset="-120"/>
              </a:rPr>
              <a:t>No lithium-ion electrolyte formulation or production exists in the Netherlands or Belgium. That is the gap.</a:t>
            </a:r>
            <a:endParaRPr lang="en-US" sz="1300" dirty="0"/>
          </a:p>
        </p:txBody>
      </p:sp>
      <p:sp>
        <p:nvSpPr>
          <p:cNvPr id="17" name="Text 15"/>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B6672"/>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0F5C6E"/>
                </a:solidFill>
                <a:latin typeface="Calibri" pitchFamily="34" charset="0"/>
                <a:ea typeface="Calibri" pitchFamily="34" charset="-122"/>
                <a:cs typeface="Calibri" pitchFamily="34" charset="-120"/>
              </a:rPr>
              <a:t>Screen by simulation, confirm by experiment, ship samples</a:t>
            </a:r>
            <a:endParaRPr lang="en-US" sz="2600" dirty="0"/>
          </a:p>
        </p:txBody>
      </p:sp>
      <p:sp>
        <p:nvSpPr>
          <p:cNvPr id="3" name="Shape 1"/>
          <p:cNvSpPr/>
          <p:nvPr/>
        </p:nvSpPr>
        <p:spPr>
          <a:xfrm>
            <a:off x="457200" y="1143000"/>
            <a:ext cx="502920" cy="502920"/>
          </a:xfrm>
          <a:prstGeom prst="ellipse">
            <a:avLst/>
          </a:prstGeom>
          <a:solidFill>
            <a:srgbClr val="0F5C6E"/>
          </a:solidFill>
          <a:ln w="12700">
            <a:solidFill>
              <a:srgbClr val="0F5C6E"/>
            </a:solidFill>
            <a:prstDash val="solid"/>
          </a:ln>
        </p:spPr>
        <p:txBody>
          <a:bodyPr/>
          <a:lstStyle/>
          <a:p>
            <a:endParaRPr lang="en-NL"/>
          </a:p>
        </p:txBody>
      </p:sp>
      <p:sp>
        <p:nvSpPr>
          <p:cNvPr id="4" name="Text 2"/>
          <p:cNvSpPr txBox="1"/>
          <p:nvPr/>
        </p:nvSpPr>
        <p:spPr>
          <a:xfrm>
            <a:off x="457200" y="11430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51560" y="1188720"/>
            <a:ext cx="1371600" cy="411480"/>
          </a:xfrm>
          <a:prstGeom prst="rect">
            <a:avLst/>
          </a:prstGeom>
          <a:noFill/>
          <a:ln/>
        </p:spPr>
        <p:txBody>
          <a:bodyPr wrap="square" lIns="0" tIns="0" rIns="0" bIns="0" rtlCol="0" anchor="ctr"/>
          <a:lstStyle/>
          <a:p>
            <a:pPr marL="0" indent="0">
              <a:buNone/>
            </a:pPr>
            <a:r>
              <a:rPr lang="en-US" sz="1600" b="1" dirty="0">
                <a:solidFill>
                  <a:srgbClr val="1A2230"/>
                </a:solidFill>
                <a:latin typeface="Calibri" pitchFamily="34" charset="0"/>
                <a:ea typeface="Calibri" pitchFamily="34" charset="-122"/>
                <a:cs typeface="Calibri" pitchFamily="34" charset="-120"/>
              </a:rPr>
              <a:t>Brief</a:t>
            </a:r>
            <a:endParaRPr lang="en-US" sz="1600" dirty="0"/>
          </a:p>
        </p:txBody>
      </p:sp>
      <p:sp>
        <p:nvSpPr>
          <p:cNvPr id="6" name="Text 4"/>
          <p:cNvSpPr txBox="1"/>
          <p:nvPr/>
        </p:nvSpPr>
        <p:spPr>
          <a:xfrm>
            <a:off x="457200" y="1783080"/>
            <a:ext cx="1874520" cy="1188720"/>
          </a:xfrm>
          <a:prstGeom prst="rect">
            <a:avLst/>
          </a:prstGeom>
          <a:noFill/>
          <a:ln/>
        </p:spPr>
        <p:txBody>
          <a:bodyPr wrap="square" lIns="0" tIns="0" rIns="0" bIns="0" rtlCol="0" anchor="t"/>
          <a:lstStyle/>
          <a:p>
            <a:pPr marL="0" indent="0">
              <a:buNone/>
            </a:pPr>
            <a:r>
              <a:rPr lang="en-US" sz="1100" dirty="0">
                <a:solidFill>
                  <a:srgbClr val="5B6672"/>
                </a:solidFill>
                <a:latin typeface="Calibri" pitchFamily="34" charset="0"/>
                <a:ea typeface="Calibri" pitchFamily="34" charset="-122"/>
                <a:cs typeface="Calibri" pitchFamily="34" charset="-120"/>
              </a:rPr>
              <a:t>Customer gives a chemistry and a target: e.g. 4.6 V cathode, silicon anode, non-flammable</a:t>
            </a:r>
            <a:endParaRPr lang="en-US" sz="1100" dirty="0"/>
          </a:p>
        </p:txBody>
      </p:sp>
      <p:sp>
        <p:nvSpPr>
          <p:cNvPr id="7" name="Shape 5"/>
          <p:cNvSpPr/>
          <p:nvPr/>
        </p:nvSpPr>
        <p:spPr>
          <a:xfrm>
            <a:off x="2304288" y="1298448"/>
            <a:ext cx="219456" cy="182880"/>
          </a:xfrm>
          <a:prstGeom prst="rightArrow">
            <a:avLst/>
          </a:prstGeom>
          <a:solidFill>
            <a:srgbClr val="D3DAE0"/>
          </a:solidFill>
          <a:ln w="12700">
            <a:solidFill>
              <a:srgbClr val="D3DAE0"/>
            </a:solidFill>
            <a:prstDash val="solid"/>
          </a:ln>
        </p:spPr>
        <p:txBody>
          <a:bodyPr/>
          <a:lstStyle/>
          <a:p>
            <a:endParaRPr lang="en-NL"/>
          </a:p>
        </p:txBody>
      </p:sp>
      <p:sp>
        <p:nvSpPr>
          <p:cNvPr id="8" name="Shape 6"/>
          <p:cNvSpPr/>
          <p:nvPr/>
        </p:nvSpPr>
        <p:spPr>
          <a:xfrm>
            <a:off x="2560320" y="1143000"/>
            <a:ext cx="502920" cy="502920"/>
          </a:xfrm>
          <a:prstGeom prst="ellipse">
            <a:avLst/>
          </a:prstGeom>
          <a:solidFill>
            <a:srgbClr val="0F5C6E"/>
          </a:solidFill>
          <a:ln w="12700">
            <a:solidFill>
              <a:srgbClr val="0F5C6E"/>
            </a:solidFill>
            <a:prstDash val="solid"/>
          </a:ln>
        </p:spPr>
        <p:txBody>
          <a:bodyPr/>
          <a:lstStyle/>
          <a:p>
            <a:endParaRPr lang="en-NL"/>
          </a:p>
        </p:txBody>
      </p:sp>
      <p:sp>
        <p:nvSpPr>
          <p:cNvPr id="9" name="Text 7"/>
          <p:cNvSpPr txBox="1"/>
          <p:nvPr/>
        </p:nvSpPr>
        <p:spPr>
          <a:xfrm>
            <a:off x="2560320" y="11430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3154680" y="1188720"/>
            <a:ext cx="1371600" cy="411480"/>
          </a:xfrm>
          <a:prstGeom prst="rect">
            <a:avLst/>
          </a:prstGeom>
          <a:noFill/>
          <a:ln/>
        </p:spPr>
        <p:txBody>
          <a:bodyPr wrap="square" lIns="0" tIns="0" rIns="0" bIns="0" rtlCol="0" anchor="ctr"/>
          <a:lstStyle/>
          <a:p>
            <a:pPr marL="0" indent="0">
              <a:buNone/>
            </a:pPr>
            <a:r>
              <a:rPr lang="en-US" sz="1600" b="1" dirty="0">
                <a:solidFill>
                  <a:srgbClr val="1A2230"/>
                </a:solidFill>
                <a:latin typeface="Calibri" pitchFamily="34" charset="0"/>
                <a:ea typeface="Calibri" pitchFamily="34" charset="-122"/>
                <a:cs typeface="Calibri" pitchFamily="34" charset="-120"/>
              </a:rPr>
              <a:t>Screen</a:t>
            </a:r>
            <a:endParaRPr lang="en-US" sz="1600" dirty="0"/>
          </a:p>
        </p:txBody>
      </p:sp>
      <p:sp>
        <p:nvSpPr>
          <p:cNvPr id="11" name="Text 9"/>
          <p:cNvSpPr txBox="1"/>
          <p:nvPr/>
        </p:nvSpPr>
        <p:spPr>
          <a:xfrm>
            <a:off x="2560320" y="1783080"/>
            <a:ext cx="1874520" cy="1188720"/>
          </a:xfrm>
          <a:prstGeom prst="rect">
            <a:avLst/>
          </a:prstGeom>
          <a:noFill/>
          <a:ln/>
        </p:spPr>
        <p:txBody>
          <a:bodyPr wrap="square" lIns="0" tIns="0" rIns="0" bIns="0" rtlCol="0" anchor="t"/>
          <a:lstStyle/>
          <a:p>
            <a:pPr marL="0" indent="0">
              <a:buNone/>
            </a:pPr>
            <a:r>
              <a:rPr lang="en-US" sz="1100" dirty="0">
                <a:solidFill>
                  <a:srgbClr val="5B6672"/>
                </a:solidFill>
                <a:latin typeface="Calibri" pitchFamily="34" charset="0"/>
                <a:ea typeface="Calibri" pitchFamily="34" charset="-122"/>
                <a:cs typeface="Calibri" pitchFamily="34" charset="-120"/>
              </a:rPr>
              <a:t>AI agents run literature mining, DFT labelling, ML models training and simulation across thousands of formulations</a:t>
            </a:r>
            <a:endParaRPr lang="en-US" sz="1100" dirty="0"/>
          </a:p>
        </p:txBody>
      </p:sp>
      <p:sp>
        <p:nvSpPr>
          <p:cNvPr id="12" name="Shape 10"/>
          <p:cNvSpPr/>
          <p:nvPr/>
        </p:nvSpPr>
        <p:spPr>
          <a:xfrm>
            <a:off x="4407408" y="1298448"/>
            <a:ext cx="219456" cy="182880"/>
          </a:xfrm>
          <a:prstGeom prst="rightArrow">
            <a:avLst/>
          </a:prstGeom>
          <a:solidFill>
            <a:srgbClr val="D3DAE0"/>
          </a:solidFill>
          <a:ln w="12700">
            <a:solidFill>
              <a:srgbClr val="D3DAE0"/>
            </a:solidFill>
            <a:prstDash val="solid"/>
          </a:ln>
        </p:spPr>
        <p:txBody>
          <a:bodyPr/>
          <a:lstStyle/>
          <a:p>
            <a:endParaRPr lang="en-NL"/>
          </a:p>
        </p:txBody>
      </p:sp>
      <p:sp>
        <p:nvSpPr>
          <p:cNvPr id="13" name="Shape 11"/>
          <p:cNvSpPr/>
          <p:nvPr/>
        </p:nvSpPr>
        <p:spPr>
          <a:xfrm>
            <a:off x="4663440" y="1143000"/>
            <a:ext cx="502920" cy="502920"/>
          </a:xfrm>
          <a:prstGeom prst="ellipse">
            <a:avLst/>
          </a:prstGeom>
          <a:solidFill>
            <a:srgbClr val="0F5C6E"/>
          </a:solidFill>
          <a:ln w="12700">
            <a:solidFill>
              <a:srgbClr val="0F5C6E"/>
            </a:solidFill>
            <a:prstDash val="solid"/>
          </a:ln>
        </p:spPr>
        <p:txBody>
          <a:bodyPr/>
          <a:lstStyle/>
          <a:p>
            <a:endParaRPr lang="en-NL"/>
          </a:p>
        </p:txBody>
      </p:sp>
      <p:sp>
        <p:nvSpPr>
          <p:cNvPr id="14" name="Text 12"/>
          <p:cNvSpPr txBox="1"/>
          <p:nvPr/>
        </p:nvSpPr>
        <p:spPr>
          <a:xfrm>
            <a:off x="4663440" y="11430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5257800" y="1188720"/>
            <a:ext cx="1371600" cy="411480"/>
          </a:xfrm>
          <a:prstGeom prst="rect">
            <a:avLst/>
          </a:prstGeom>
          <a:noFill/>
          <a:ln/>
        </p:spPr>
        <p:txBody>
          <a:bodyPr wrap="square" lIns="0" tIns="0" rIns="0" bIns="0" rtlCol="0" anchor="ctr"/>
          <a:lstStyle/>
          <a:p>
            <a:pPr marL="0" indent="0">
              <a:buNone/>
            </a:pPr>
            <a:r>
              <a:rPr lang="en-US" sz="1600" b="1" dirty="0">
                <a:solidFill>
                  <a:srgbClr val="1A2230"/>
                </a:solidFill>
                <a:latin typeface="Calibri" pitchFamily="34" charset="0"/>
                <a:ea typeface="Calibri" pitchFamily="34" charset="-122"/>
                <a:cs typeface="Calibri" pitchFamily="34" charset="-120"/>
              </a:rPr>
              <a:t>Rank</a:t>
            </a:r>
            <a:endParaRPr lang="en-US" sz="1600" dirty="0"/>
          </a:p>
        </p:txBody>
      </p:sp>
      <p:sp>
        <p:nvSpPr>
          <p:cNvPr id="16" name="Text 14"/>
          <p:cNvSpPr txBox="1"/>
          <p:nvPr/>
        </p:nvSpPr>
        <p:spPr>
          <a:xfrm>
            <a:off x="4663440" y="1783080"/>
            <a:ext cx="1874520" cy="1188720"/>
          </a:xfrm>
          <a:prstGeom prst="rect">
            <a:avLst/>
          </a:prstGeom>
          <a:noFill/>
          <a:ln/>
        </p:spPr>
        <p:txBody>
          <a:bodyPr wrap="square" lIns="0" tIns="0" rIns="0" bIns="0" rtlCol="0" anchor="t"/>
          <a:lstStyle/>
          <a:p>
            <a:pPr marL="0" indent="0">
              <a:buNone/>
            </a:pPr>
            <a:r>
              <a:rPr lang="en-US" sz="1100" dirty="0">
                <a:solidFill>
                  <a:srgbClr val="5B6672"/>
                </a:solidFill>
                <a:latin typeface="Calibri" pitchFamily="34" charset="0"/>
                <a:ea typeface="Calibri" pitchFamily="34" charset="-122"/>
                <a:cs typeface="Calibri" pitchFamily="34" charset="-120"/>
              </a:rPr>
              <a:t>Shortlist with predicted solvation structure, oxidative stability and SEI/CEI precursors, plus the evidence</a:t>
            </a:r>
            <a:endParaRPr lang="en-US" sz="1100" dirty="0"/>
          </a:p>
        </p:txBody>
      </p:sp>
      <p:sp>
        <p:nvSpPr>
          <p:cNvPr id="17" name="Shape 15"/>
          <p:cNvSpPr/>
          <p:nvPr/>
        </p:nvSpPr>
        <p:spPr>
          <a:xfrm>
            <a:off x="6510528" y="1298448"/>
            <a:ext cx="219456" cy="182880"/>
          </a:xfrm>
          <a:prstGeom prst="rightArrow">
            <a:avLst/>
          </a:prstGeom>
          <a:solidFill>
            <a:srgbClr val="D3DAE0"/>
          </a:solidFill>
          <a:ln w="12700">
            <a:solidFill>
              <a:srgbClr val="D3DAE0"/>
            </a:solidFill>
            <a:prstDash val="solid"/>
          </a:ln>
        </p:spPr>
        <p:txBody>
          <a:bodyPr/>
          <a:lstStyle/>
          <a:p>
            <a:endParaRPr lang="en-NL"/>
          </a:p>
        </p:txBody>
      </p:sp>
      <p:sp>
        <p:nvSpPr>
          <p:cNvPr id="18" name="Shape 16"/>
          <p:cNvSpPr/>
          <p:nvPr/>
        </p:nvSpPr>
        <p:spPr>
          <a:xfrm>
            <a:off x="6766560" y="1143000"/>
            <a:ext cx="502920" cy="502920"/>
          </a:xfrm>
          <a:prstGeom prst="ellipse">
            <a:avLst/>
          </a:prstGeom>
          <a:solidFill>
            <a:srgbClr val="E8A838"/>
          </a:solidFill>
          <a:ln w="12700">
            <a:solidFill>
              <a:srgbClr val="E8A838"/>
            </a:solidFill>
            <a:prstDash val="solid"/>
          </a:ln>
        </p:spPr>
        <p:txBody>
          <a:bodyPr/>
          <a:lstStyle/>
          <a:p>
            <a:endParaRPr lang="en-NL"/>
          </a:p>
        </p:txBody>
      </p:sp>
      <p:sp>
        <p:nvSpPr>
          <p:cNvPr id="19" name="Text 17"/>
          <p:cNvSpPr txBox="1"/>
          <p:nvPr/>
        </p:nvSpPr>
        <p:spPr>
          <a:xfrm>
            <a:off x="6766560" y="11430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7360920" y="1188720"/>
            <a:ext cx="1371600" cy="411480"/>
          </a:xfrm>
          <a:prstGeom prst="rect">
            <a:avLst/>
          </a:prstGeom>
          <a:noFill/>
          <a:ln/>
        </p:spPr>
        <p:txBody>
          <a:bodyPr wrap="square" lIns="0" tIns="0" rIns="0" bIns="0" rtlCol="0" anchor="ctr"/>
          <a:lstStyle/>
          <a:p>
            <a:pPr marL="0" indent="0">
              <a:buNone/>
            </a:pPr>
            <a:r>
              <a:rPr lang="en-US" sz="1600" b="1" dirty="0">
                <a:solidFill>
                  <a:srgbClr val="1A2230"/>
                </a:solidFill>
                <a:latin typeface="Calibri" pitchFamily="34" charset="0"/>
                <a:ea typeface="Calibri" pitchFamily="34" charset="-122"/>
                <a:cs typeface="Calibri" pitchFamily="34" charset="-120"/>
              </a:rPr>
              <a:t>Validate</a:t>
            </a:r>
            <a:endParaRPr lang="en-US" sz="1600" dirty="0"/>
          </a:p>
        </p:txBody>
      </p:sp>
      <p:sp>
        <p:nvSpPr>
          <p:cNvPr id="21" name="Text 19"/>
          <p:cNvSpPr txBox="1"/>
          <p:nvPr/>
        </p:nvSpPr>
        <p:spPr>
          <a:xfrm>
            <a:off x="6766560" y="1783080"/>
            <a:ext cx="1874520" cy="1188720"/>
          </a:xfrm>
          <a:prstGeom prst="rect">
            <a:avLst/>
          </a:prstGeom>
          <a:noFill/>
          <a:ln/>
        </p:spPr>
        <p:txBody>
          <a:bodyPr wrap="square" lIns="0" tIns="0" rIns="0" bIns="0" rtlCol="0" anchor="t"/>
          <a:lstStyle/>
          <a:p>
            <a:pPr marL="0" indent="0">
              <a:buNone/>
            </a:pPr>
            <a:r>
              <a:rPr lang="en-US" sz="1100" dirty="0">
                <a:solidFill>
                  <a:srgbClr val="5B6672"/>
                </a:solidFill>
                <a:latin typeface="Calibri" pitchFamily="34" charset="0"/>
                <a:ea typeface="Calibri" pitchFamily="34" charset="-122"/>
                <a:cs typeface="Calibri" pitchFamily="34" charset="-120"/>
              </a:rPr>
              <a:t>Samples prepared, cells tested with partner labs in Utrecht; data returned in weeks</a:t>
            </a:r>
            <a:endParaRPr lang="en-US" sz="1100" dirty="0"/>
          </a:p>
        </p:txBody>
      </p:sp>
      <p:sp>
        <p:nvSpPr>
          <p:cNvPr id="22" name="Shape 20"/>
          <p:cNvSpPr/>
          <p:nvPr/>
        </p:nvSpPr>
        <p:spPr>
          <a:xfrm>
            <a:off x="457200" y="3154680"/>
            <a:ext cx="8229600" cy="1325880"/>
          </a:xfrm>
          <a:prstGeom prst="roundRect">
            <a:avLst>
              <a:gd name="adj" fmla="val 6897"/>
            </a:avLst>
          </a:prstGeom>
          <a:solidFill>
            <a:srgbClr val="F6F8F9"/>
          </a:solidFill>
          <a:ln w="9525">
            <a:solidFill>
              <a:srgbClr val="D3DAE0"/>
            </a:solidFill>
            <a:prstDash val="solid"/>
          </a:ln>
        </p:spPr>
        <p:txBody>
          <a:bodyPr/>
          <a:lstStyle/>
          <a:p>
            <a:endParaRPr lang="en-NL"/>
          </a:p>
        </p:txBody>
      </p:sp>
      <p:sp>
        <p:nvSpPr>
          <p:cNvPr id="23" name="Text 21"/>
          <p:cNvSpPr txBox="1"/>
          <p:nvPr/>
        </p:nvSpPr>
        <p:spPr>
          <a:xfrm>
            <a:off x="685800" y="3246120"/>
            <a:ext cx="3657600" cy="320040"/>
          </a:xfrm>
          <a:prstGeom prst="rect">
            <a:avLst/>
          </a:prstGeom>
          <a:noFill/>
          <a:ln/>
        </p:spPr>
        <p:txBody>
          <a:bodyPr wrap="square" lIns="0" tIns="0" rIns="0" bIns="0" rtlCol="0" anchor="ctr"/>
          <a:lstStyle/>
          <a:p>
            <a:pPr marL="0" indent="0">
              <a:buNone/>
            </a:pPr>
            <a:r>
              <a:rPr lang="en-US" sz="1200" b="1" dirty="0">
                <a:solidFill>
                  <a:srgbClr val="0F5C6E"/>
                </a:solidFill>
                <a:latin typeface="Calibri" pitchFamily="34" charset="0"/>
                <a:ea typeface="Calibri" pitchFamily="34" charset="-122"/>
                <a:cs typeface="Calibri" pitchFamily="34" charset="-120"/>
              </a:rPr>
              <a:t>What the customer gets</a:t>
            </a:r>
            <a:endParaRPr lang="en-US" sz="1200" dirty="0"/>
          </a:p>
        </p:txBody>
      </p:sp>
      <p:sp>
        <p:nvSpPr>
          <p:cNvPr id="24" name="Text 22"/>
          <p:cNvSpPr txBox="1"/>
          <p:nvPr/>
        </p:nvSpPr>
        <p:spPr>
          <a:xfrm>
            <a:off x="685800" y="3566160"/>
            <a:ext cx="7772400" cy="8686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A2230"/>
                </a:solidFill>
                <a:latin typeface="Calibri" pitchFamily="34" charset="0"/>
                <a:ea typeface="Calibri" pitchFamily="34" charset="-122"/>
                <a:cs typeface="Calibri" pitchFamily="34" charset="-120"/>
              </a:rPr>
              <a:t>A ranked shortlist of formulations that work in their cell, not a report</a:t>
            </a:r>
            <a:endParaRPr lang="en-US" sz="1200" dirty="0"/>
          </a:p>
          <a:p>
            <a:pPr marL="342900" indent="-342900">
              <a:spcAft>
                <a:spcPts val="300"/>
              </a:spcAft>
              <a:buSzPct val="100000"/>
              <a:buChar char="•"/>
            </a:pPr>
            <a:r>
              <a:rPr lang="en-US" sz="1200" dirty="0">
                <a:solidFill>
                  <a:srgbClr val="1A2230"/>
                </a:solidFill>
                <a:latin typeface="Calibri" pitchFamily="34" charset="0"/>
                <a:ea typeface="Calibri" pitchFamily="34" charset="-122"/>
                <a:cs typeface="Calibri" pitchFamily="34" charset="-120"/>
              </a:rPr>
              <a:t>Simulation evidence behind every rank, so their own team can build on it</a:t>
            </a:r>
            <a:endParaRPr lang="en-US" sz="1200" dirty="0"/>
          </a:p>
          <a:p>
            <a:pPr marL="342900" indent="-342900">
              <a:spcAft>
                <a:spcPts val="300"/>
              </a:spcAft>
              <a:buSzPct val="100000"/>
              <a:buChar char="•"/>
            </a:pPr>
            <a:r>
              <a:rPr lang="en-US" sz="1200" dirty="0">
                <a:solidFill>
                  <a:srgbClr val="1A2230"/>
                </a:solidFill>
                <a:latin typeface="Calibri" pitchFamily="34" charset="0"/>
                <a:ea typeface="Calibri" pitchFamily="34" charset="-122"/>
                <a:cs typeface="Calibri" pitchFamily="34" charset="-120"/>
              </a:rPr>
              <a:t>Physical samples and validation data delivered in the Netherlands, in weeks instead of quarters</a:t>
            </a:r>
            <a:endParaRPr lang="en-US" sz="1200" dirty="0"/>
          </a:p>
        </p:txBody>
      </p:sp>
      <p:sp>
        <p:nvSpPr>
          <p:cNvPr id="25" name="Text 23"/>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B6672"/>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0F5C6E"/>
                </a:solidFill>
                <a:latin typeface="Calibri" pitchFamily="34" charset="0"/>
                <a:ea typeface="Calibri" pitchFamily="34" charset="-122"/>
                <a:cs typeface="Calibri" pitchFamily="34" charset="-120"/>
              </a:rPr>
              <a:t>Electrolytes we have already designed and tested</a:t>
            </a:r>
            <a:endParaRPr lang="en-US" sz="2600" dirty="0"/>
          </a:p>
        </p:txBody>
      </p:sp>
      <p:sp>
        <p:nvSpPr>
          <p:cNvPr id="3" name="Text 1"/>
          <p:cNvSpPr txBox="1"/>
          <p:nvPr/>
        </p:nvSpPr>
        <p:spPr>
          <a:xfrm>
            <a:off x="457200" y="1005840"/>
            <a:ext cx="1920240" cy="548640"/>
          </a:xfrm>
          <a:prstGeom prst="rect">
            <a:avLst/>
          </a:prstGeom>
          <a:noFill/>
          <a:ln/>
        </p:spPr>
        <p:txBody>
          <a:bodyPr wrap="square" lIns="0" tIns="0" rIns="0" bIns="0" rtlCol="0" anchor="ctr"/>
          <a:lstStyle/>
          <a:p>
            <a:pPr marL="0" indent="0">
              <a:buNone/>
            </a:pPr>
            <a:r>
              <a:rPr lang="en-US" sz="3400" b="1" dirty="0">
                <a:solidFill>
                  <a:srgbClr val="0F5C6E"/>
                </a:solidFill>
                <a:latin typeface="Calibri" pitchFamily="34" charset="0"/>
                <a:ea typeface="Calibri" pitchFamily="34" charset="-122"/>
                <a:cs typeface="Calibri" pitchFamily="34" charset="-120"/>
              </a:rPr>
              <a:t>17</a:t>
            </a:r>
            <a:endParaRPr lang="en-US" sz="3400" dirty="0"/>
          </a:p>
        </p:txBody>
      </p:sp>
      <p:sp>
        <p:nvSpPr>
          <p:cNvPr id="4" name="Text 2"/>
          <p:cNvSpPr txBox="1"/>
          <p:nvPr/>
        </p:nvSpPr>
        <p:spPr>
          <a:xfrm>
            <a:off x="457200" y="1554480"/>
            <a:ext cx="1965960" cy="566928"/>
          </a:xfrm>
          <a:prstGeom prst="rect">
            <a:avLst/>
          </a:prstGeom>
          <a:noFill/>
          <a:ln/>
        </p:spPr>
        <p:txBody>
          <a:bodyPr wrap="square" lIns="0" tIns="0" rIns="0" bIns="0" rtlCol="0" anchor="t"/>
          <a:lstStyle/>
          <a:p>
            <a:pPr marL="0" indent="0">
              <a:buNone/>
            </a:pPr>
            <a:r>
              <a:rPr lang="en-US" sz="950" dirty="0">
                <a:solidFill>
                  <a:srgbClr val="5B6672"/>
                </a:solidFill>
                <a:latin typeface="Calibri" pitchFamily="34" charset="0"/>
                <a:ea typeface="Calibri" pitchFamily="34" charset="-122"/>
                <a:cs typeface="Calibri" pitchFamily="34" charset="-120"/>
              </a:rPr>
              <a:t>electrolyte formulations published, each cycled in full cells against a blank</a:t>
            </a:r>
            <a:endParaRPr lang="en-US" sz="950" dirty="0"/>
          </a:p>
        </p:txBody>
      </p:sp>
      <p:sp>
        <p:nvSpPr>
          <p:cNvPr id="5" name="Text 3"/>
          <p:cNvSpPr txBox="1"/>
          <p:nvPr/>
        </p:nvSpPr>
        <p:spPr>
          <a:xfrm>
            <a:off x="457200" y="2148840"/>
            <a:ext cx="1920240" cy="548640"/>
          </a:xfrm>
          <a:prstGeom prst="rect">
            <a:avLst/>
          </a:prstGeom>
          <a:noFill/>
          <a:ln/>
        </p:spPr>
        <p:txBody>
          <a:bodyPr wrap="square" lIns="0" tIns="0" rIns="0" bIns="0" rtlCol="0" anchor="ctr"/>
          <a:lstStyle/>
          <a:p>
            <a:pPr marL="0" indent="0">
              <a:buNone/>
            </a:pPr>
            <a:r>
              <a:rPr lang="en-US" sz="3400" b="1" dirty="0">
                <a:solidFill>
                  <a:srgbClr val="0F5C6E"/>
                </a:solidFill>
                <a:latin typeface="Calibri" pitchFamily="34" charset="0"/>
                <a:ea typeface="Calibri" pitchFamily="34" charset="-122"/>
                <a:cs typeface="Calibri" pitchFamily="34" charset="-120"/>
              </a:rPr>
              <a:t>4</a:t>
            </a:r>
            <a:endParaRPr lang="en-US" sz="3400" dirty="0"/>
          </a:p>
        </p:txBody>
      </p:sp>
      <p:sp>
        <p:nvSpPr>
          <p:cNvPr id="6" name="Text 4"/>
          <p:cNvSpPr txBox="1"/>
          <p:nvPr/>
        </p:nvSpPr>
        <p:spPr>
          <a:xfrm>
            <a:off x="457200" y="2697480"/>
            <a:ext cx="1965960" cy="566928"/>
          </a:xfrm>
          <a:prstGeom prst="rect">
            <a:avLst/>
          </a:prstGeom>
          <a:noFill/>
          <a:ln/>
        </p:spPr>
        <p:txBody>
          <a:bodyPr wrap="square" lIns="0" tIns="0" rIns="0" bIns="0" rtlCol="0" anchor="t"/>
          <a:lstStyle/>
          <a:p>
            <a:pPr marL="0" indent="0">
              <a:buNone/>
            </a:pPr>
            <a:r>
              <a:rPr lang="en-US" sz="950" dirty="0">
                <a:solidFill>
                  <a:srgbClr val="5B6672"/>
                </a:solidFill>
                <a:latin typeface="Calibri" pitchFamily="34" charset="0"/>
                <a:ea typeface="Calibri" pitchFamily="34" charset="-122"/>
                <a:cs typeface="Calibri" pitchFamily="34" charset="-120"/>
              </a:rPr>
              <a:t>cell chemistries: Li-metal with NCM622/811 and LTO, 4.6 V LiCoO2 in ether, Na-ion pouch</a:t>
            </a:r>
            <a:endParaRPr lang="en-US" sz="950" dirty="0"/>
          </a:p>
        </p:txBody>
      </p:sp>
      <p:sp>
        <p:nvSpPr>
          <p:cNvPr id="7" name="Text 5"/>
          <p:cNvSpPr txBox="1"/>
          <p:nvPr/>
        </p:nvSpPr>
        <p:spPr>
          <a:xfrm>
            <a:off x="457200" y="3291840"/>
            <a:ext cx="1920240" cy="548640"/>
          </a:xfrm>
          <a:prstGeom prst="rect">
            <a:avLst/>
          </a:prstGeom>
          <a:noFill/>
          <a:ln/>
        </p:spPr>
        <p:txBody>
          <a:bodyPr wrap="square" lIns="0" tIns="0" rIns="0" bIns="0" rtlCol="0" anchor="ctr"/>
          <a:lstStyle/>
          <a:p>
            <a:pPr marL="0" indent="0">
              <a:buNone/>
            </a:pPr>
            <a:r>
              <a:rPr lang="en-US" sz="3400" b="1" dirty="0">
                <a:solidFill>
                  <a:srgbClr val="0F5C6E"/>
                </a:solidFill>
                <a:latin typeface="Calibri" pitchFamily="34" charset="0"/>
                <a:ea typeface="Calibri" pitchFamily="34" charset="-122"/>
                <a:cs typeface="Calibri" pitchFamily="34" charset="-120"/>
              </a:rPr>
              <a:t>2,500+</a:t>
            </a:r>
            <a:endParaRPr lang="en-US" sz="3400" dirty="0"/>
          </a:p>
        </p:txBody>
      </p:sp>
      <p:sp>
        <p:nvSpPr>
          <p:cNvPr id="8" name="Text 6"/>
          <p:cNvSpPr txBox="1"/>
          <p:nvPr/>
        </p:nvSpPr>
        <p:spPr>
          <a:xfrm>
            <a:off x="457200" y="3840480"/>
            <a:ext cx="1965960" cy="566928"/>
          </a:xfrm>
          <a:prstGeom prst="rect">
            <a:avLst/>
          </a:prstGeom>
          <a:noFill/>
          <a:ln/>
        </p:spPr>
        <p:txBody>
          <a:bodyPr wrap="square" lIns="0" tIns="0" rIns="0" bIns="0" rtlCol="0" anchor="t"/>
          <a:lstStyle/>
          <a:p>
            <a:pPr marL="0" indent="0">
              <a:buNone/>
            </a:pPr>
            <a:r>
              <a:rPr lang="en-US" sz="950" dirty="0">
                <a:solidFill>
                  <a:srgbClr val="5B6672"/>
                </a:solidFill>
                <a:latin typeface="Calibri" pitchFamily="34" charset="0"/>
                <a:ea typeface="Calibri" pitchFamily="34" charset="-122"/>
                <a:cs typeface="Calibri" pitchFamily="34" charset="-120"/>
              </a:rPr>
              <a:t>citations on this body of work; two Angew. Chem. papers above 250 each</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620787822"/>
              </p:ext>
            </p:extLst>
          </p:nvPr>
        </p:nvGraphicFramePr>
        <p:xfrm>
          <a:off x="2651760" y="1005840"/>
          <a:ext cx="6035040" cy="2999232"/>
        </p:xfrm>
        <a:graphic>
          <a:graphicData uri="http://schemas.openxmlformats.org/drawingml/2006/table">
            <a:tbl>
              <a:tblPr/>
              <a:tblGrid>
                <a:gridCol w="10972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374904">
                <a:tc>
                  <a:txBody>
                    <a:bodyPr/>
                    <a:lstStyle/>
                    <a:p>
                      <a:pPr marL="0" indent="0">
                        <a:buNone/>
                      </a:pPr>
                      <a:r>
                        <a:rPr lang="en-US" sz="900" b="1" dirty="0">
                          <a:solidFill>
                            <a:srgbClr val="0F5C6E"/>
                          </a:solidFill>
                          <a:latin typeface="Calibri" pitchFamily="34" charset="0"/>
                          <a:ea typeface="Calibri" pitchFamily="34" charset="-122"/>
                          <a:cs typeface="Calibri" pitchFamily="34" charset="-120"/>
                        </a:rPr>
                        <a:t>Cell</a:t>
                      </a:r>
                      <a:endParaRPr lang="en-US" sz="90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solidFill>
                      <a:srgbClr val="E3F0F2"/>
                    </a:solidFill>
                  </a:tcPr>
                </a:tc>
                <a:tc>
                  <a:txBody>
                    <a:bodyPr/>
                    <a:lstStyle/>
                    <a:p>
                      <a:pPr marL="0" indent="0">
                        <a:buNone/>
                      </a:pPr>
                      <a:r>
                        <a:rPr lang="en-US" sz="900" b="1" dirty="0">
                          <a:solidFill>
                            <a:srgbClr val="0F5C6E"/>
                          </a:solidFill>
                          <a:latin typeface="Calibri" pitchFamily="34" charset="0"/>
                          <a:ea typeface="Calibri" pitchFamily="34" charset="-122"/>
                          <a:cs typeface="Calibri" pitchFamily="34" charset="-120"/>
                        </a:rPr>
                        <a:t>Formulation</a:t>
                      </a:r>
                      <a:endParaRPr lang="en-US" sz="90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solidFill>
                      <a:srgbClr val="E3F0F2"/>
                    </a:solidFill>
                  </a:tcPr>
                </a:tc>
                <a:tc>
                  <a:txBody>
                    <a:bodyPr/>
                    <a:lstStyle/>
                    <a:p>
                      <a:pPr marL="0" indent="0">
                        <a:buNone/>
                      </a:pPr>
                      <a:r>
                        <a:rPr lang="en-US" sz="900" b="1" dirty="0">
                          <a:solidFill>
                            <a:srgbClr val="0F5C6E"/>
                          </a:solidFill>
                          <a:latin typeface="Calibri" pitchFamily="34" charset="0"/>
                          <a:ea typeface="Calibri" pitchFamily="34" charset="-122"/>
                          <a:cs typeface="Calibri" pitchFamily="34" charset="-120"/>
                        </a:rPr>
                        <a:t>Result vs blank</a:t>
                      </a:r>
                      <a:endParaRPr lang="en-US" sz="90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solidFill>
                      <a:srgbClr val="E3F0F2"/>
                    </a:solidFill>
                  </a:tcPr>
                </a:tc>
                <a:tc>
                  <a:txBody>
                    <a:bodyPr/>
                    <a:lstStyle/>
                    <a:p>
                      <a:pPr marL="0" indent="0">
                        <a:buNone/>
                      </a:pPr>
                      <a:r>
                        <a:rPr lang="en-US" sz="900" b="1" dirty="0">
                          <a:solidFill>
                            <a:srgbClr val="0F5C6E"/>
                          </a:solidFill>
                          <a:latin typeface="Calibri" pitchFamily="34" charset="0"/>
                          <a:ea typeface="Calibri" pitchFamily="34" charset="-122"/>
                          <a:cs typeface="Calibri" pitchFamily="34" charset="-120"/>
                        </a:rPr>
                        <a:t>Gain</a:t>
                      </a:r>
                      <a:endParaRPr lang="en-US" sz="90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solidFill>
                      <a:srgbClr val="E3F0F2"/>
                    </a:solidFill>
                  </a:tcPr>
                </a:tc>
                <a:tc>
                  <a:txBody>
                    <a:bodyPr/>
                    <a:lstStyle/>
                    <a:p>
                      <a:pPr marL="0" indent="0">
                        <a:buNone/>
                      </a:pPr>
                      <a:r>
                        <a:rPr lang="en-US" sz="900" b="1" dirty="0">
                          <a:solidFill>
                            <a:srgbClr val="0F5C6E"/>
                          </a:solidFill>
                          <a:latin typeface="Calibri" pitchFamily="34" charset="0"/>
                          <a:ea typeface="Calibri" pitchFamily="34" charset="-122"/>
                          <a:cs typeface="Calibri" pitchFamily="34" charset="-120"/>
                        </a:rPr>
                        <a:t>Where</a:t>
                      </a:r>
                      <a:endParaRPr lang="en-US" sz="90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solidFill>
                      <a:srgbClr val="E3F0F2"/>
                    </a:solidFill>
                  </a:tcPr>
                </a:tc>
                <a:extLst>
                  <a:ext uri="{0D108BD9-81ED-4DB2-BD59-A6C34878D82A}">
                    <a16:rowId xmlns:a16="http://schemas.microsoft.com/office/drawing/2014/main" val="10000"/>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Li||NCM622, 4.5 V</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1 M LiPF6 EC/DMC + 1 wt% bisfluoroacetamide</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149 vs 124 mAh/g after 200 cycles; Li||Li 400 vs 170 h</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Longer cycle life</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Angew. Chem. 2021, 367 cit.</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Li||NCM622, 4.5 V</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+ 1 wt% tris(4-fluorophenyl)phosphine</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87.8% vs 54.3% retention after 200 cycles</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Longer cycle life</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Adv. Energy Mater. 2022, 342 cit.</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Li||NCM811, 4.5 V</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+ 1 wt% HFPTf sulfonate ester</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70% vs 57% after 150 cycles; Li||Li 1000 h</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High-Ni stability</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Adv. Funct. Mater. 2021</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Li||NCM622</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+ 1 wt% 4-pyridylboronic acid</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Li||Cu CE 97.1% vs 85.4%; 86.9% vs 69.7% after 200 cycles</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Higher Li efficiency</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eScience 2022</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Li||NCM622, non-flammable</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1 M LiPF6 PC/EMC/TEP + 2 wt% THFP</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82% vs 31% after 200 cycles; tLi+ 0.45 vs 0.15</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Safety without loss</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Sci. Bull. 2022</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Li||LiCoO2, 4.6 V ether</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3 M LiPFBS in DME, no additives</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Li||Li 1000 vs 300 cycles; 73% after 200 cycles at 1 C</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Ether to 4.6 V</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ACS AEM 2025, first author</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6"/>
                  </a:ext>
                </a:extLst>
              </a:tr>
              <a:tr h="374904">
                <a:tc>
                  <a:txBody>
                    <a:bodyPr/>
                    <a:lstStyle/>
                    <a:p>
                      <a:pPr marL="0" indent="0">
                        <a:buNone/>
                      </a:pPr>
                      <a:r>
                        <a:rPr lang="en-US" sz="850" b="1" dirty="0">
                          <a:solidFill>
                            <a:srgbClr val="1A2230"/>
                          </a:solidFill>
                          <a:latin typeface="Calibri" pitchFamily="34" charset="0"/>
                          <a:ea typeface="Calibri" pitchFamily="34" charset="-122"/>
                          <a:cs typeface="Calibri" pitchFamily="34" charset="-120"/>
                        </a:rPr>
                        <a:t>Na-ion pouch, NVP||HC</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1.2 M NaTFSI TMP/BTFE + VC, fire-retardant</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1A2230"/>
                          </a:solidFill>
                          <a:latin typeface="Calibri" pitchFamily="34" charset="0"/>
                          <a:ea typeface="Calibri" pitchFamily="34" charset="-122"/>
                          <a:cs typeface="Calibri" pitchFamily="34" charset="-120"/>
                        </a:rPr>
                        <a:t>85% after 120 cycles; hard-carbon CE 99.3% vs 66.2%</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b="1" dirty="0">
                          <a:solidFill>
                            <a:srgbClr val="0F5C6E"/>
                          </a:solidFill>
                          <a:latin typeface="Calibri" pitchFamily="34" charset="0"/>
                          <a:ea typeface="Calibri" pitchFamily="34" charset="-122"/>
                          <a:cs typeface="Calibri" pitchFamily="34" charset="-120"/>
                        </a:rPr>
                        <a:t>Fire-safe Na-ion</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tc>
                  <a:txBody>
                    <a:bodyPr/>
                    <a:lstStyle/>
                    <a:p>
                      <a:pPr marL="0" indent="0">
                        <a:buNone/>
                      </a:pPr>
                      <a:r>
                        <a:rPr lang="en-US" sz="850" dirty="0">
                          <a:solidFill>
                            <a:srgbClr val="5B6672"/>
                          </a:solidFill>
                          <a:latin typeface="Calibri" pitchFamily="34" charset="0"/>
                          <a:ea typeface="Calibri" pitchFamily="34" charset="-122"/>
                          <a:cs typeface="Calibri" pitchFamily="34" charset="-120"/>
                        </a:rPr>
                        <a:t>Angew. Chem. 2021, 165 cit.</a:t>
                      </a:r>
                      <a:endParaRPr lang="en-US" sz="850" dirty="0">
                        <a:latin typeface="Calibri" charset="0"/>
                        <a:ea typeface="Calibri" charset="0"/>
                        <a:cs typeface="Calibri" charset="0"/>
                      </a:endParaRPr>
                    </a:p>
                  </a:txBody>
                  <a:tcPr marL="36576" marR="36576" marT="36576" marB="36576" anchor="ctr">
                    <a:lnL w="6350" cap="flat" cmpd="sng" algn="ctr">
                      <a:solidFill>
                        <a:srgbClr val="D3DAE0"/>
                      </a:solidFill>
                      <a:prstDash val="solid"/>
                      <a:round/>
                      <a:headEnd type="none" w="med" len="med"/>
                      <a:tailEnd type="none" w="med" len="med"/>
                    </a:lnL>
                    <a:lnR w="6350" cap="flat" cmpd="sng" algn="ctr">
                      <a:solidFill>
                        <a:srgbClr val="D3DAE0"/>
                      </a:solidFill>
                      <a:prstDash val="solid"/>
                      <a:round/>
                      <a:headEnd type="none" w="med" len="med"/>
                      <a:tailEnd type="none" w="med" len="med"/>
                    </a:lnR>
                    <a:lnT w="6350" cap="flat" cmpd="sng" algn="ctr">
                      <a:solidFill>
                        <a:srgbClr val="D3DAE0"/>
                      </a:solidFill>
                      <a:prstDash val="solid"/>
                      <a:round/>
                      <a:headEnd type="none" w="med" len="med"/>
                      <a:tailEnd type="none" w="med" len="med"/>
                    </a:lnT>
                    <a:lnB w="6350" cap="flat" cmpd="sng" algn="ctr">
                      <a:solidFill>
                        <a:srgbClr val="D3DA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Text 7"/>
          <p:cNvSpPr txBox="1"/>
          <p:nvPr/>
        </p:nvSpPr>
        <p:spPr>
          <a:xfrm>
            <a:off x="2651760" y="4114800"/>
            <a:ext cx="6035040" cy="457200"/>
          </a:xfrm>
          <a:prstGeom prst="rect">
            <a:avLst/>
          </a:prstGeom>
          <a:noFill/>
          <a:ln/>
        </p:spPr>
        <p:txBody>
          <a:bodyPr wrap="square" lIns="0" tIns="0" rIns="0" bIns="0" rtlCol="0" anchor="t"/>
          <a:lstStyle/>
          <a:p>
            <a:pPr marL="0" indent="0">
              <a:buNone/>
            </a:pPr>
            <a:r>
              <a:rPr lang="en-US" sz="950" i="1" dirty="0">
                <a:solidFill>
                  <a:srgbClr val="5B6672"/>
                </a:solidFill>
                <a:latin typeface="Calibri" pitchFamily="34" charset="0"/>
                <a:ea typeface="Calibri" pitchFamily="34" charset="-122"/>
                <a:cs typeface="Calibri" pitchFamily="34" charset="-120"/>
              </a:rPr>
              <a:t>Full table of all 17 systems available on request.</a:t>
            </a:r>
            <a:endParaRPr lang="en-US" sz="950" dirty="0"/>
          </a:p>
        </p:txBody>
      </p:sp>
      <p:sp>
        <p:nvSpPr>
          <p:cNvPr id="11" name="Text 8"/>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B6672"/>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2A33"/>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457200"/>
          </a:xfrm>
          <a:prstGeom prst="rect">
            <a:avLst/>
          </a:prstGeom>
          <a:noFill/>
        </p:spPr>
        <p:txBody>
          <a:bodyPr wrap="square" lIns="0" tIns="0" rIns="0" bIns="0" anchor="ctr">
            <a:spAutoFit/>
          </a:bodyPr>
          <a:lstStyle/>
          <a:p>
            <a:r>
              <a:rPr sz="2600" b="1">
                <a:solidFill>
                  <a:srgbClr val="FFFFFF"/>
                </a:solidFill>
                <a:latin typeface="Calibri"/>
              </a:rPr>
              <a:t>Our lead formulation: a 630 Wh/kg lithium-metal cell</a:t>
            </a:r>
          </a:p>
        </p:txBody>
      </p:sp>
      <p:sp>
        <p:nvSpPr>
          <p:cNvPr id="3" name="Subtitle"/>
          <p:cNvSpPr txBox="1"/>
          <p:nvPr/>
        </p:nvSpPr>
        <p:spPr>
          <a:xfrm>
            <a:off x="457200" y="822960"/>
            <a:ext cx="8229600" cy="274320"/>
          </a:xfrm>
          <a:prstGeom prst="rect">
            <a:avLst/>
          </a:prstGeom>
          <a:noFill/>
        </p:spPr>
        <p:txBody>
          <a:bodyPr wrap="square" lIns="0" tIns="0" rIns="0" bIns="0" anchor="t">
            <a:spAutoFit/>
          </a:bodyPr>
          <a:lstStyle/>
          <a:p>
            <a:r>
              <a:rPr sz="1200" b="0">
                <a:solidFill>
                  <a:srgbClr val="5FB8C9"/>
                </a:solidFill>
                <a:latin typeface="Calibri"/>
              </a:rPr>
              <a:t>Screened in-house by our simulation pipeline, then built and cycled as a full-size pouch cell.</a:t>
            </a:r>
          </a:p>
        </p:txBody>
      </p:sp>
      <p:sp>
        <p:nvSpPr>
          <p:cNvPr id="4" name="Stat 1"/>
          <p:cNvSpPr txBox="1"/>
          <p:nvPr/>
        </p:nvSpPr>
        <p:spPr>
          <a:xfrm>
            <a:off x="457200" y="1188720"/>
            <a:ext cx="2011680" cy="438912"/>
          </a:xfrm>
          <a:prstGeom prst="rect">
            <a:avLst/>
          </a:prstGeom>
          <a:noFill/>
        </p:spPr>
        <p:txBody>
          <a:bodyPr wrap="square" lIns="0" tIns="0" rIns="0" bIns="0" anchor="ctr">
            <a:spAutoFit/>
          </a:bodyPr>
          <a:lstStyle/>
          <a:p>
            <a:r>
              <a:rPr sz="2800" b="1">
                <a:solidFill>
                  <a:srgbClr val="E8A838"/>
                </a:solidFill>
                <a:latin typeface="Calibri"/>
              </a:rPr>
              <a:t>630 Wh/kg</a:t>
            </a:r>
          </a:p>
        </p:txBody>
      </p:sp>
      <p:sp>
        <p:nvSpPr>
          <p:cNvPr id="5" name="Stat 1 label"/>
          <p:cNvSpPr txBox="1"/>
          <p:nvPr/>
        </p:nvSpPr>
        <p:spPr>
          <a:xfrm>
            <a:off x="457200" y="1645920"/>
            <a:ext cx="1920240" cy="365760"/>
          </a:xfrm>
          <a:prstGeom prst="rect">
            <a:avLst/>
          </a:prstGeom>
          <a:noFill/>
        </p:spPr>
        <p:txBody>
          <a:bodyPr wrap="square" lIns="0" tIns="0" rIns="0" bIns="0" anchor="t">
            <a:spAutoFit/>
          </a:bodyPr>
          <a:lstStyle/>
          <a:p>
            <a:r>
              <a:rPr sz="1050" b="0">
                <a:solidFill>
                  <a:srgbClr val="FFFFFF"/>
                </a:solidFill>
                <a:latin typeface="Calibri"/>
              </a:rPr>
              <a:t>cell-level energy density</a:t>
            </a:r>
          </a:p>
        </p:txBody>
      </p:sp>
      <p:sp>
        <p:nvSpPr>
          <p:cNvPr id="6" name="Stat 2"/>
          <p:cNvSpPr txBox="1"/>
          <p:nvPr/>
        </p:nvSpPr>
        <p:spPr>
          <a:xfrm>
            <a:off x="2532888" y="1188720"/>
            <a:ext cx="2011680" cy="438912"/>
          </a:xfrm>
          <a:prstGeom prst="rect">
            <a:avLst/>
          </a:prstGeom>
          <a:noFill/>
        </p:spPr>
        <p:txBody>
          <a:bodyPr wrap="square" lIns="0" tIns="0" rIns="0" bIns="0" anchor="ctr">
            <a:spAutoFit/>
          </a:bodyPr>
          <a:lstStyle/>
          <a:p>
            <a:r>
              <a:rPr sz="2800" b="1">
                <a:solidFill>
                  <a:srgbClr val="E8A838"/>
                </a:solidFill>
                <a:latin typeface="Calibri"/>
              </a:rPr>
              <a:t>10 Ah</a:t>
            </a:r>
          </a:p>
        </p:txBody>
      </p:sp>
      <p:sp>
        <p:nvSpPr>
          <p:cNvPr id="7" name="Stat 2 label"/>
          <p:cNvSpPr txBox="1"/>
          <p:nvPr/>
        </p:nvSpPr>
        <p:spPr>
          <a:xfrm>
            <a:off x="2532888" y="1645920"/>
            <a:ext cx="1920240" cy="365760"/>
          </a:xfrm>
          <a:prstGeom prst="rect">
            <a:avLst/>
          </a:prstGeom>
          <a:noFill/>
        </p:spPr>
        <p:txBody>
          <a:bodyPr wrap="square" lIns="0" tIns="0" rIns="0" bIns="0" anchor="t">
            <a:spAutoFit/>
          </a:bodyPr>
          <a:lstStyle/>
          <a:p>
            <a:r>
              <a:rPr sz="1050" b="0">
                <a:solidFill>
                  <a:srgbClr val="FFFFFF"/>
                </a:solidFill>
                <a:latin typeface="Calibri"/>
              </a:rPr>
              <a:t>multilayer pouch cell, not a coin cell</a:t>
            </a:r>
          </a:p>
        </p:txBody>
      </p:sp>
      <p:sp>
        <p:nvSpPr>
          <p:cNvPr id="8" name="Stat 3"/>
          <p:cNvSpPr txBox="1"/>
          <p:nvPr/>
        </p:nvSpPr>
        <p:spPr>
          <a:xfrm>
            <a:off x="4608576" y="1188720"/>
            <a:ext cx="2011680" cy="438912"/>
          </a:xfrm>
          <a:prstGeom prst="rect">
            <a:avLst/>
          </a:prstGeom>
          <a:noFill/>
        </p:spPr>
        <p:txBody>
          <a:bodyPr wrap="square" lIns="0" tIns="0" rIns="0" bIns="0" anchor="ctr">
            <a:spAutoFit/>
          </a:bodyPr>
          <a:lstStyle/>
          <a:p>
            <a:r>
              <a:rPr sz="2800" b="1">
                <a:solidFill>
                  <a:srgbClr val="E8A838"/>
                </a:solidFill>
                <a:latin typeface="Calibri"/>
              </a:rPr>
              <a:t>&gt;90%</a:t>
            </a:r>
          </a:p>
        </p:txBody>
      </p:sp>
      <p:sp>
        <p:nvSpPr>
          <p:cNvPr id="9" name="Stat 3 label"/>
          <p:cNvSpPr txBox="1"/>
          <p:nvPr/>
        </p:nvSpPr>
        <p:spPr>
          <a:xfrm>
            <a:off x="4608576" y="1645920"/>
            <a:ext cx="1920240" cy="365760"/>
          </a:xfrm>
          <a:prstGeom prst="rect">
            <a:avLst/>
          </a:prstGeom>
          <a:noFill/>
        </p:spPr>
        <p:txBody>
          <a:bodyPr wrap="square" lIns="0" tIns="0" rIns="0" bIns="0" anchor="t">
            <a:spAutoFit/>
          </a:bodyPr>
          <a:lstStyle/>
          <a:p>
            <a:r>
              <a:rPr sz="1050" b="0">
                <a:solidFill>
                  <a:srgbClr val="FFFFFF"/>
                </a:solidFill>
                <a:latin typeface="Calibri"/>
              </a:rPr>
              <a:t>capacity retained after 100+ cycles</a:t>
            </a:r>
          </a:p>
        </p:txBody>
      </p:sp>
      <p:sp>
        <p:nvSpPr>
          <p:cNvPr id="10" name="Stat 4"/>
          <p:cNvSpPr txBox="1"/>
          <p:nvPr/>
        </p:nvSpPr>
        <p:spPr>
          <a:xfrm>
            <a:off x="6684264" y="1188720"/>
            <a:ext cx="2011680" cy="438912"/>
          </a:xfrm>
          <a:prstGeom prst="rect">
            <a:avLst/>
          </a:prstGeom>
          <a:noFill/>
        </p:spPr>
        <p:txBody>
          <a:bodyPr wrap="square" lIns="0" tIns="0" rIns="0" bIns="0" anchor="ctr">
            <a:spAutoFit/>
          </a:bodyPr>
          <a:lstStyle/>
          <a:p>
            <a:r>
              <a:rPr sz="2800" b="1">
                <a:solidFill>
                  <a:srgbClr val="E8A838"/>
                </a:solidFill>
                <a:latin typeface="Calibri"/>
              </a:rPr>
              <a:t>4.3 V</a:t>
            </a:r>
          </a:p>
        </p:txBody>
      </p:sp>
      <p:sp>
        <p:nvSpPr>
          <p:cNvPr id="11" name="Stat 4 label"/>
          <p:cNvSpPr txBox="1"/>
          <p:nvPr/>
        </p:nvSpPr>
        <p:spPr>
          <a:xfrm>
            <a:off x="6684264" y="1645920"/>
            <a:ext cx="1920240" cy="365760"/>
          </a:xfrm>
          <a:prstGeom prst="rect">
            <a:avLst/>
          </a:prstGeom>
          <a:noFill/>
        </p:spPr>
        <p:txBody>
          <a:bodyPr wrap="square" lIns="0" tIns="0" rIns="0" bIns="0" anchor="t">
            <a:spAutoFit/>
          </a:bodyPr>
          <a:lstStyle/>
          <a:p>
            <a:r>
              <a:rPr sz="1050" b="0">
                <a:solidFill>
                  <a:srgbClr val="FFFFFF"/>
                </a:solidFill>
                <a:latin typeface="Calibri"/>
              </a:rPr>
              <a:t>high-nickel cathode vs lithium-metal anode</a:t>
            </a:r>
          </a:p>
        </p:txBody>
      </p:sp>
      <p:sp>
        <p:nvSpPr>
          <p:cNvPr id="12" name="Chart caption"/>
          <p:cNvSpPr txBox="1"/>
          <p:nvPr/>
        </p:nvSpPr>
        <p:spPr>
          <a:xfrm>
            <a:off x="457200" y="2286000"/>
            <a:ext cx="5029200" cy="228600"/>
          </a:xfrm>
          <a:prstGeom prst="rect">
            <a:avLst/>
          </a:prstGeom>
          <a:noFill/>
        </p:spPr>
        <p:txBody>
          <a:bodyPr wrap="square" lIns="0" tIns="0" rIns="0" bIns="0" anchor="t">
            <a:spAutoFit/>
          </a:bodyPr>
          <a:lstStyle/>
          <a:p>
            <a:r>
              <a:rPr sz="1100" b="1">
                <a:solidFill>
                  <a:srgbClr val="5FB8C9"/>
                </a:solidFill>
                <a:latin typeface="Calibri"/>
              </a:rPr>
              <a:t>Published cell figures from Dutch battery companies, Wh/kg</a:t>
            </a:r>
          </a:p>
        </p:txBody>
      </p:sp>
      <p:sp>
        <p:nvSpPr>
          <p:cNvPr id="13" name="Row 1 label"/>
          <p:cNvSpPr txBox="1"/>
          <p:nvPr/>
        </p:nvSpPr>
        <p:spPr>
          <a:xfrm>
            <a:off x="457200" y="2587752"/>
            <a:ext cx="2514600" cy="402336"/>
          </a:xfrm>
          <a:prstGeom prst="rect">
            <a:avLst/>
          </a:prstGeom>
          <a:noFill/>
        </p:spPr>
        <p:txBody>
          <a:bodyPr wrap="square" lIns="0" tIns="0" rIns="0" bIns="0" anchor="t">
            <a:spAutoFit/>
          </a:bodyPr>
          <a:lstStyle/>
          <a:p>
            <a:r>
              <a:rPr sz="1100" b="1">
                <a:solidFill>
                  <a:srgbClr val="E8A838"/>
                </a:solidFill>
                <a:latin typeface="Calibri"/>
              </a:rPr>
              <a:t>Solvation Labs</a:t>
            </a:r>
          </a:p>
          <a:p>
            <a:pPr>
              <a:spcBef>
                <a:spcPts val="0"/>
              </a:spcBef>
            </a:pPr>
            <a:r>
              <a:rPr sz="850" b="0">
                <a:solidFill>
                  <a:srgbClr val="8FA9B1"/>
                </a:solidFill>
                <a:latin typeface="Calibri"/>
              </a:rPr>
              <a:t>10 Ah Li-metal pouch, &gt;90% at 100+ cycles</a:t>
            </a:r>
          </a:p>
        </p:txBody>
      </p:sp>
      <p:sp>
        <p:nvSpPr>
          <p:cNvPr id="14" name="Row 1 bar"/>
          <p:cNvSpPr/>
          <p:nvPr/>
        </p:nvSpPr>
        <p:spPr>
          <a:xfrm>
            <a:off x="3017520" y="2660904"/>
            <a:ext cx="1737360" cy="219456"/>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w 1 value"/>
          <p:cNvSpPr txBox="1"/>
          <p:nvPr/>
        </p:nvSpPr>
        <p:spPr>
          <a:xfrm>
            <a:off x="4828031" y="2660904"/>
            <a:ext cx="868680" cy="219456"/>
          </a:xfrm>
          <a:prstGeom prst="rect">
            <a:avLst/>
          </a:prstGeom>
          <a:noFill/>
        </p:spPr>
        <p:txBody>
          <a:bodyPr wrap="square" lIns="0" tIns="0" rIns="0" bIns="0" anchor="ctr">
            <a:spAutoFit/>
          </a:bodyPr>
          <a:lstStyle/>
          <a:p>
            <a:r>
              <a:rPr sz="1100" b="1">
                <a:solidFill>
                  <a:srgbClr val="E8A838"/>
                </a:solidFill>
                <a:latin typeface="Calibri"/>
              </a:rPr>
              <a:t>630</a:t>
            </a:r>
          </a:p>
        </p:txBody>
      </p:sp>
      <p:sp>
        <p:nvSpPr>
          <p:cNvPr id="16" name="Row 2 label"/>
          <p:cNvSpPr txBox="1"/>
          <p:nvPr/>
        </p:nvSpPr>
        <p:spPr>
          <a:xfrm>
            <a:off x="457200" y="3026664"/>
            <a:ext cx="2514600" cy="402336"/>
          </a:xfrm>
          <a:prstGeom prst="rect">
            <a:avLst/>
          </a:prstGeom>
          <a:noFill/>
        </p:spPr>
        <p:txBody>
          <a:bodyPr wrap="square" lIns="0" tIns="0" rIns="0" bIns="0" anchor="t">
            <a:spAutoFit/>
          </a:bodyPr>
          <a:lstStyle/>
          <a:p>
            <a:r>
              <a:rPr sz="1100" b="1">
                <a:solidFill>
                  <a:srgbClr val="FFFFFF"/>
                </a:solidFill>
                <a:latin typeface="Calibri"/>
              </a:rPr>
              <a:t>LionVolt</a:t>
            </a:r>
          </a:p>
          <a:p>
            <a:pPr>
              <a:spcBef>
                <a:spcPts val="0"/>
              </a:spcBef>
            </a:pPr>
            <a:r>
              <a:rPr sz="850" b="0">
                <a:solidFill>
                  <a:srgbClr val="8FA9B1"/>
                </a:solidFill>
                <a:latin typeface="Calibri"/>
              </a:rPr>
              <a:t>3D Li-metal anode; target, no cycle data</a:t>
            </a:r>
          </a:p>
        </p:txBody>
      </p:sp>
      <p:sp>
        <p:nvSpPr>
          <p:cNvPr id="17" name="Row 2 bar"/>
          <p:cNvSpPr/>
          <p:nvPr/>
        </p:nvSpPr>
        <p:spPr>
          <a:xfrm>
            <a:off x="3017520" y="3099816"/>
            <a:ext cx="1240971" cy="219456"/>
          </a:xfrm>
          <a:prstGeom prst="rect">
            <a:avLst/>
          </a:prstGeom>
          <a:noFill/>
          <a:ln w="12700">
            <a:solidFill>
              <a:srgbClr val="8FA9B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w 2 value"/>
          <p:cNvSpPr txBox="1"/>
          <p:nvPr/>
        </p:nvSpPr>
        <p:spPr>
          <a:xfrm>
            <a:off x="4331643" y="3099816"/>
            <a:ext cx="868680" cy="219456"/>
          </a:xfrm>
          <a:prstGeom prst="rect">
            <a:avLst/>
          </a:prstGeom>
          <a:noFill/>
        </p:spPr>
        <p:txBody>
          <a:bodyPr wrap="square" lIns="0" tIns="0" rIns="0" bIns="0" anchor="ctr">
            <a:spAutoFit/>
          </a:bodyPr>
          <a:lstStyle/>
          <a:p>
            <a:r>
              <a:rPr sz="1100" b="1">
                <a:solidFill>
                  <a:srgbClr val="8FA9B1"/>
                </a:solidFill>
                <a:latin typeface="Calibri"/>
              </a:rPr>
              <a:t>&gt;450 target</a:t>
            </a:r>
          </a:p>
        </p:txBody>
      </p:sp>
      <p:sp>
        <p:nvSpPr>
          <p:cNvPr id="19" name="Row 3 label"/>
          <p:cNvSpPr txBox="1"/>
          <p:nvPr/>
        </p:nvSpPr>
        <p:spPr>
          <a:xfrm>
            <a:off x="457200" y="3465576"/>
            <a:ext cx="2514600" cy="402336"/>
          </a:xfrm>
          <a:prstGeom prst="rect">
            <a:avLst/>
          </a:prstGeom>
          <a:noFill/>
        </p:spPr>
        <p:txBody>
          <a:bodyPr wrap="square" lIns="0" tIns="0" rIns="0" bIns="0" anchor="t">
            <a:spAutoFit/>
          </a:bodyPr>
          <a:lstStyle/>
          <a:p>
            <a:r>
              <a:rPr sz="1100" b="1">
                <a:solidFill>
                  <a:srgbClr val="FFFFFF"/>
                </a:solidFill>
                <a:latin typeface="Calibri"/>
              </a:rPr>
              <a:t>LeydenJar</a:t>
            </a:r>
          </a:p>
          <a:p>
            <a:pPr>
              <a:spcBef>
                <a:spcPts val="0"/>
              </a:spcBef>
            </a:pPr>
            <a:r>
              <a:rPr sz="850" b="0">
                <a:solidFill>
                  <a:srgbClr val="8FA9B1"/>
                </a:solidFill>
                <a:latin typeface="Calibri"/>
              </a:rPr>
              <a:t>Si anode (stack level), 80% at 500 cycles</a:t>
            </a:r>
          </a:p>
        </p:txBody>
      </p:sp>
      <p:sp>
        <p:nvSpPr>
          <p:cNvPr id="20" name="Row 3 bar"/>
          <p:cNvSpPr/>
          <p:nvPr/>
        </p:nvSpPr>
        <p:spPr>
          <a:xfrm>
            <a:off x="3017520" y="3538728"/>
            <a:ext cx="1075508" cy="219456"/>
          </a:xfrm>
          <a:prstGeom prst="rect">
            <a:avLst/>
          </a:prstGeom>
          <a:solidFill>
            <a:srgbClr val="8FA9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w 3 value"/>
          <p:cNvSpPr txBox="1"/>
          <p:nvPr/>
        </p:nvSpPr>
        <p:spPr>
          <a:xfrm>
            <a:off x="4166180" y="3538728"/>
            <a:ext cx="868680" cy="219456"/>
          </a:xfrm>
          <a:prstGeom prst="rect">
            <a:avLst/>
          </a:prstGeom>
          <a:noFill/>
        </p:spPr>
        <p:txBody>
          <a:bodyPr wrap="square" lIns="0" tIns="0" rIns="0" bIns="0" anchor="ctr">
            <a:spAutoFit/>
          </a:bodyPr>
          <a:lstStyle/>
          <a:p>
            <a:r>
              <a:rPr sz="1100" b="1">
                <a:solidFill>
                  <a:srgbClr val="8FA9B1"/>
                </a:solidFill>
                <a:latin typeface="Calibri"/>
              </a:rPr>
              <a:t>390</a:t>
            </a:r>
          </a:p>
        </p:txBody>
      </p:sp>
      <p:sp>
        <p:nvSpPr>
          <p:cNvPr id="22" name="Row 4 label"/>
          <p:cNvSpPr txBox="1"/>
          <p:nvPr/>
        </p:nvSpPr>
        <p:spPr>
          <a:xfrm>
            <a:off x="457200" y="3904488"/>
            <a:ext cx="2514600" cy="402336"/>
          </a:xfrm>
          <a:prstGeom prst="rect">
            <a:avLst/>
          </a:prstGeom>
          <a:noFill/>
        </p:spPr>
        <p:txBody>
          <a:bodyPr wrap="square" lIns="0" tIns="0" rIns="0" bIns="0" anchor="t">
            <a:spAutoFit/>
          </a:bodyPr>
          <a:lstStyle/>
          <a:p>
            <a:r>
              <a:rPr sz="1100" b="1">
                <a:solidFill>
                  <a:srgbClr val="FFFFFF"/>
                </a:solidFill>
                <a:latin typeface="Calibri"/>
              </a:rPr>
              <a:t>E-magy</a:t>
            </a:r>
          </a:p>
          <a:p>
            <a:pPr>
              <a:spcBef>
                <a:spcPts val="0"/>
              </a:spcBef>
            </a:pPr>
            <a:r>
              <a:rPr sz="850" b="0">
                <a:solidFill>
                  <a:srgbClr val="8FA9B1"/>
                </a:solidFill>
                <a:latin typeface="Calibri"/>
              </a:rPr>
              <a:t>12 Ah Si drone cell, 80% at 150–200 cycles</a:t>
            </a:r>
          </a:p>
        </p:txBody>
      </p:sp>
      <p:sp>
        <p:nvSpPr>
          <p:cNvPr id="23" name="Row 4 bar"/>
          <p:cNvSpPr/>
          <p:nvPr/>
        </p:nvSpPr>
        <p:spPr>
          <a:xfrm>
            <a:off x="3017520" y="3977639"/>
            <a:ext cx="827314" cy="219456"/>
          </a:xfrm>
          <a:prstGeom prst="rect">
            <a:avLst/>
          </a:prstGeom>
          <a:solidFill>
            <a:srgbClr val="8FA9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w 4 value"/>
          <p:cNvSpPr txBox="1"/>
          <p:nvPr/>
        </p:nvSpPr>
        <p:spPr>
          <a:xfrm>
            <a:off x="3917986" y="3977639"/>
            <a:ext cx="868680" cy="219456"/>
          </a:xfrm>
          <a:prstGeom prst="rect">
            <a:avLst/>
          </a:prstGeom>
          <a:noFill/>
        </p:spPr>
        <p:txBody>
          <a:bodyPr wrap="square" lIns="0" tIns="0" rIns="0" bIns="0" anchor="ctr">
            <a:spAutoFit/>
          </a:bodyPr>
          <a:lstStyle/>
          <a:p>
            <a:r>
              <a:rPr sz="1100" b="1">
                <a:solidFill>
                  <a:srgbClr val="8FA9B1"/>
                </a:solidFill>
                <a:latin typeface="Calibri"/>
              </a:rPr>
              <a:t>300</a:t>
            </a:r>
          </a:p>
        </p:txBody>
      </p:sp>
      <p:sp>
        <p:nvSpPr>
          <p:cNvPr id="25" name="Chart source"/>
          <p:cNvSpPr txBox="1"/>
          <p:nvPr/>
        </p:nvSpPr>
        <p:spPr>
          <a:xfrm>
            <a:off x="457200" y="4389120"/>
            <a:ext cx="5120640" cy="182880"/>
          </a:xfrm>
          <a:prstGeom prst="rect">
            <a:avLst/>
          </a:prstGeom>
          <a:noFill/>
        </p:spPr>
        <p:txBody>
          <a:bodyPr wrap="square" lIns="0" tIns="0" rIns="0" bIns="0" anchor="t">
            <a:spAutoFit/>
          </a:bodyPr>
          <a:lstStyle/>
          <a:p>
            <a:r>
              <a:rPr sz="750" b="0">
                <a:solidFill>
                  <a:srgbClr val="8FA9B1"/>
                </a:solidFill>
                <a:latin typeface="Calibri"/>
              </a:rPr>
              <a:t>Company-reported figures (LeydenJar 2024, LionVolt website, E-magy 2026 spec), not independently tested.</a:t>
            </a:r>
          </a:p>
        </p:txBody>
      </p:sp>
      <p:sp>
        <p:nvSpPr>
          <p:cNvPr id="26" name="Ask card"/>
          <p:cNvSpPr/>
          <p:nvPr/>
        </p:nvSpPr>
        <p:spPr>
          <a:xfrm>
            <a:off x="5852160" y="2286000"/>
            <a:ext cx="2834640" cy="2057400"/>
          </a:xfrm>
          <a:prstGeom prst="roundRect">
            <a:avLst>
              <a:gd name="adj" fmla="val 6000"/>
            </a:avLst>
          </a:prstGeom>
          <a:solidFill>
            <a:srgbClr val="123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sk text"/>
          <p:cNvSpPr txBox="1"/>
          <p:nvPr/>
        </p:nvSpPr>
        <p:spPr>
          <a:xfrm>
            <a:off x="6035040" y="2423160"/>
            <a:ext cx="2514600" cy="1828800"/>
          </a:xfrm>
          <a:prstGeom prst="rect">
            <a:avLst/>
          </a:prstGeom>
          <a:noFill/>
        </p:spPr>
        <p:txBody>
          <a:bodyPr wrap="square" lIns="0" tIns="0" rIns="0" bIns="0" anchor="t">
            <a:spAutoFit/>
          </a:bodyPr>
          <a:lstStyle/>
          <a:p>
            <a:r>
              <a:rPr sz="950" b="1">
                <a:solidFill>
                  <a:srgbClr val="E8A838"/>
                </a:solidFill>
                <a:latin typeface="Calibri"/>
              </a:rPr>
              <a:t>NEXT STEP</a:t>
            </a:r>
          </a:p>
          <a:p>
            <a:pPr>
              <a:spcBef>
                <a:spcPts val="500"/>
              </a:spcBef>
            </a:pPr>
            <a:r>
              <a:rPr sz="1400" b="1">
                <a:solidFill>
                  <a:srgbClr val="FFFFFF"/>
                </a:solidFill>
                <a:latin typeface="Calibri"/>
              </a:rPr>
              <a:t>Seeking partners for independent validation</a:t>
            </a:r>
          </a:p>
          <a:p>
            <a:pPr marL="164592" indent="-164592">
              <a:spcBef>
                <a:spcPts val="600"/>
              </a:spcBef>
              <a:buClr>
                <a:srgbClr val="E8A838"/>
              </a:buClr>
              <a:buChar char="•"/>
            </a:pPr>
            <a:r>
              <a:rPr sz="1050" b="0">
                <a:solidFill>
                  <a:srgbClr val="FFFFFF"/>
                </a:solidFill>
                <a:latin typeface="Calibri"/>
              </a:rPr>
              <a:t>Third-party cycling at an EU test facility</a:t>
            </a:r>
          </a:p>
          <a:p>
            <a:pPr marL="164592" indent="-164592">
              <a:spcBef>
                <a:spcPts val="600"/>
              </a:spcBef>
              <a:buClr>
                <a:srgbClr val="E8A838"/>
              </a:buClr>
              <a:buChar char="•"/>
            </a:pPr>
            <a:r>
              <a:rPr sz="1050" b="0">
                <a:solidFill>
                  <a:srgbClr val="FFFFFF"/>
                </a:solidFill>
                <a:latin typeface="Calibri"/>
              </a:rPr>
              <a:t>Co-development with a high-nickel or Li-metal cell developer</a:t>
            </a:r>
          </a:p>
          <a:p>
            <a:pPr marL="164592" indent="-164592">
              <a:spcBef>
                <a:spcPts val="600"/>
              </a:spcBef>
              <a:buClr>
                <a:srgbClr val="E8A838"/>
              </a:buClr>
              <a:buChar char="•"/>
            </a:pPr>
            <a:r>
              <a:rPr sz="1050" b="0">
                <a:solidFill>
                  <a:srgbClr val="FFFFFF"/>
                </a:solidFill>
                <a:latin typeface="Calibri"/>
              </a:rPr>
              <a:t>Formulation and cell data under NDA</a:t>
            </a:r>
          </a:p>
        </p:txBody>
      </p:sp>
      <p:sp>
        <p:nvSpPr>
          <p:cNvPr id="28" name="Footer"/>
          <p:cNvSpPr txBox="1"/>
          <p:nvPr/>
        </p:nvSpPr>
        <p:spPr>
          <a:xfrm>
            <a:off x="457200" y="4754880"/>
            <a:ext cx="8229600" cy="228600"/>
          </a:xfrm>
          <a:prstGeom prst="rect">
            <a:avLst/>
          </a:prstGeom>
          <a:noFill/>
        </p:spPr>
        <p:txBody>
          <a:bodyPr wrap="square" lIns="0" tIns="0" rIns="0" bIns="0" anchor="ctr">
            <a:spAutoFit/>
          </a:bodyPr>
          <a:lstStyle/>
          <a:p>
            <a:r>
              <a:rPr sz="900" b="0">
                <a:solidFill>
                  <a:srgbClr val="5FB8C9"/>
                </a:solidFill>
                <a:latin typeface="Calibri"/>
              </a:rPr>
              <a:t>Solvation Labs  ·  YES!Delft Validation Program  ·  2026</a:t>
            </a:r>
          </a:p>
        </p:txBody>
      </p:sp>
    </p:spTree>
    <p:extLst>
      <p:ext uri="{BB962C8B-B14F-4D97-AF65-F5344CB8AC3E}">
        <p14:creationId xmlns:p14="http://schemas.microsoft.com/office/powerpoint/2010/main" val="3178750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0F5C6E"/>
                </a:solidFill>
                <a:latin typeface="Calibri" pitchFamily="34" charset="0"/>
                <a:ea typeface="Calibri" pitchFamily="34" charset="-122"/>
                <a:cs typeface="Calibri" pitchFamily="34" charset="-120"/>
              </a:rPr>
              <a:t>Paid pilots build the platform</a:t>
            </a:r>
            <a:endParaRPr lang="en-US" sz="2600" dirty="0"/>
          </a:p>
        </p:txBody>
      </p:sp>
      <p:sp>
        <p:nvSpPr>
          <p:cNvPr id="3" name="Text 1"/>
          <p:cNvSpPr txBox="1"/>
          <p:nvPr/>
        </p:nvSpPr>
        <p:spPr>
          <a:xfrm>
            <a:off x="457200" y="1005840"/>
            <a:ext cx="3931920" cy="320040"/>
          </a:xfrm>
          <a:prstGeom prst="rect">
            <a:avLst/>
          </a:prstGeom>
          <a:noFill/>
          <a:ln/>
        </p:spPr>
        <p:txBody>
          <a:bodyPr wrap="square" lIns="0" tIns="0" rIns="0" bIns="0" rtlCol="0" anchor="ctr"/>
          <a:lstStyle/>
          <a:p>
            <a:pPr marL="0" indent="0">
              <a:buNone/>
            </a:pPr>
            <a:r>
              <a:rPr lang="en-US" sz="1300" b="1" dirty="0">
                <a:solidFill>
                  <a:srgbClr val="0F5C6E"/>
                </a:solidFill>
                <a:latin typeface="Calibri" pitchFamily="34" charset="0"/>
                <a:ea typeface="Calibri" pitchFamily="34" charset="-122"/>
                <a:cs typeface="Calibri" pitchFamily="34" charset="-120"/>
              </a:rPr>
              <a:t>Target customers</a:t>
            </a:r>
            <a:endParaRPr lang="en-US" sz="1300" dirty="0"/>
          </a:p>
        </p:txBody>
      </p:sp>
      <p:sp>
        <p:nvSpPr>
          <p:cNvPr id="4" name="Shape 2"/>
          <p:cNvSpPr/>
          <p:nvPr/>
        </p:nvSpPr>
        <p:spPr>
          <a:xfrm>
            <a:off x="457200" y="1371600"/>
            <a:ext cx="3931920" cy="914400"/>
          </a:xfrm>
          <a:prstGeom prst="roundRect">
            <a:avLst>
              <a:gd name="adj" fmla="val 10000"/>
            </a:avLst>
          </a:prstGeom>
          <a:solidFill>
            <a:srgbClr val="E3F0F2"/>
          </a:solidFill>
          <a:ln w="12700">
            <a:solidFill>
              <a:srgbClr val="E3F0F2"/>
            </a:solidFill>
            <a:prstDash val="solid"/>
          </a:ln>
        </p:spPr>
        <p:txBody>
          <a:bodyPr/>
          <a:lstStyle/>
          <a:p>
            <a:endParaRPr lang="en-NL"/>
          </a:p>
        </p:txBody>
      </p:sp>
      <p:sp>
        <p:nvSpPr>
          <p:cNvPr id="5" name="Text 3"/>
          <p:cNvSpPr txBox="1"/>
          <p:nvPr/>
        </p:nvSpPr>
        <p:spPr>
          <a:xfrm>
            <a:off x="621792" y="1444752"/>
            <a:ext cx="3657600" cy="292608"/>
          </a:xfrm>
          <a:prstGeom prst="rect">
            <a:avLst/>
          </a:prstGeom>
          <a:noFill/>
          <a:ln/>
        </p:spPr>
        <p:txBody>
          <a:bodyPr wrap="square" lIns="0" tIns="0" rIns="0" bIns="0" rtlCol="0" anchor="ctr"/>
          <a:lstStyle/>
          <a:p>
            <a:pPr marL="0" indent="0">
              <a:buNone/>
            </a:pPr>
            <a:r>
              <a:rPr lang="en-US" sz="1200" b="1" dirty="0">
                <a:solidFill>
                  <a:srgbClr val="0F5C6E"/>
                </a:solidFill>
                <a:latin typeface="Calibri" pitchFamily="34" charset="0"/>
                <a:ea typeface="Calibri" pitchFamily="34" charset="-122"/>
                <a:cs typeface="Calibri" pitchFamily="34" charset="-120"/>
              </a:rPr>
              <a:t>Netherlands, pilots and case studies</a:t>
            </a:r>
            <a:endParaRPr lang="en-US" sz="1200" dirty="0"/>
          </a:p>
        </p:txBody>
      </p:sp>
      <p:sp>
        <p:nvSpPr>
          <p:cNvPr id="6" name="Text 4"/>
          <p:cNvSpPr txBox="1"/>
          <p:nvPr/>
        </p:nvSpPr>
        <p:spPr>
          <a:xfrm>
            <a:off x="621792" y="1737360"/>
            <a:ext cx="3657600" cy="502920"/>
          </a:xfrm>
          <a:prstGeom prst="rect">
            <a:avLst/>
          </a:prstGeom>
          <a:noFill/>
          <a:ln/>
        </p:spPr>
        <p:txBody>
          <a:bodyPr wrap="square" lIns="0" tIns="0" rIns="0" bIns="0" rtlCol="0" anchor="t"/>
          <a:lstStyle/>
          <a:p>
            <a:pPr marL="0" indent="0">
              <a:buNone/>
            </a:pPr>
            <a:r>
              <a:rPr lang="en-US" sz="1100" dirty="0">
                <a:solidFill>
                  <a:srgbClr val="1A2230"/>
                </a:solidFill>
                <a:latin typeface="Calibri" pitchFamily="34" charset="0"/>
                <a:ea typeface="Calibri" pitchFamily="34" charset="-122"/>
                <a:cs typeface="Calibri" pitchFamily="34" charset="-120"/>
              </a:rPr>
              <a:t>LeydenJar · LionVolt · E-magy · TNO Holst Centre · TU Delft and Utrecht groups</a:t>
            </a:r>
            <a:endParaRPr lang="en-US" sz="1100" dirty="0"/>
          </a:p>
        </p:txBody>
      </p:sp>
      <p:sp>
        <p:nvSpPr>
          <p:cNvPr id="7" name="Shape 5"/>
          <p:cNvSpPr/>
          <p:nvPr/>
        </p:nvSpPr>
        <p:spPr>
          <a:xfrm>
            <a:off x="457200" y="2423160"/>
            <a:ext cx="3931920" cy="914400"/>
          </a:xfrm>
          <a:prstGeom prst="roundRect">
            <a:avLst>
              <a:gd name="adj" fmla="val 10000"/>
            </a:avLst>
          </a:prstGeom>
          <a:solidFill>
            <a:srgbClr val="E3F0F2"/>
          </a:solidFill>
          <a:ln w="12700">
            <a:solidFill>
              <a:srgbClr val="E3F0F2"/>
            </a:solidFill>
            <a:prstDash val="solid"/>
          </a:ln>
        </p:spPr>
        <p:txBody>
          <a:bodyPr/>
          <a:lstStyle/>
          <a:p>
            <a:endParaRPr lang="en-NL"/>
          </a:p>
        </p:txBody>
      </p:sp>
      <p:sp>
        <p:nvSpPr>
          <p:cNvPr id="8" name="Text 6"/>
          <p:cNvSpPr txBox="1"/>
          <p:nvPr/>
        </p:nvSpPr>
        <p:spPr>
          <a:xfrm>
            <a:off x="621792" y="2496312"/>
            <a:ext cx="3657600" cy="292608"/>
          </a:xfrm>
          <a:prstGeom prst="rect">
            <a:avLst/>
          </a:prstGeom>
          <a:noFill/>
          <a:ln/>
        </p:spPr>
        <p:txBody>
          <a:bodyPr wrap="square" lIns="0" tIns="0" rIns="0" bIns="0" rtlCol="0" anchor="ctr"/>
          <a:lstStyle/>
          <a:p>
            <a:pPr marL="0" indent="0">
              <a:buNone/>
            </a:pPr>
            <a:r>
              <a:rPr lang="en-US" sz="1200" b="1" dirty="0">
                <a:solidFill>
                  <a:srgbClr val="0F5C6E"/>
                </a:solidFill>
                <a:latin typeface="Calibri" pitchFamily="34" charset="0"/>
                <a:ea typeface="Calibri" pitchFamily="34" charset="-122"/>
                <a:cs typeface="Calibri" pitchFamily="34" charset="-120"/>
              </a:rPr>
              <a:t>EU, scale</a:t>
            </a:r>
            <a:endParaRPr lang="en-US" sz="1200" dirty="0"/>
          </a:p>
        </p:txBody>
      </p:sp>
      <p:sp>
        <p:nvSpPr>
          <p:cNvPr id="9" name="Text 7"/>
          <p:cNvSpPr txBox="1"/>
          <p:nvPr/>
        </p:nvSpPr>
        <p:spPr>
          <a:xfrm>
            <a:off x="621792" y="2788920"/>
            <a:ext cx="3657600" cy="502920"/>
          </a:xfrm>
          <a:prstGeom prst="rect">
            <a:avLst/>
          </a:prstGeom>
          <a:noFill/>
          <a:ln/>
        </p:spPr>
        <p:txBody>
          <a:bodyPr wrap="square" lIns="0" tIns="0" rIns="0" bIns="0" rtlCol="0" anchor="t"/>
          <a:lstStyle/>
          <a:p>
            <a:pPr marL="0" indent="0">
              <a:buNone/>
            </a:pPr>
            <a:r>
              <a:rPr lang="en-US" sz="1100" dirty="0">
                <a:solidFill>
                  <a:srgbClr val="1A2230"/>
                </a:solidFill>
                <a:latin typeface="Calibri" pitchFamily="34" charset="0"/>
                <a:ea typeface="Calibri" pitchFamily="34" charset="-122"/>
                <a:cs typeface="Calibri" pitchFamily="34" charset="-120"/>
              </a:rPr>
              <a:t>Umicore · Syensqo · BASF · CustomCells · PowerCo · Verkor · electrolyte formulators</a:t>
            </a:r>
            <a:endParaRPr lang="en-US" sz="1100" dirty="0"/>
          </a:p>
        </p:txBody>
      </p:sp>
      <p:sp>
        <p:nvSpPr>
          <p:cNvPr id="10" name="Text 8"/>
          <p:cNvSpPr txBox="1"/>
          <p:nvPr/>
        </p:nvSpPr>
        <p:spPr>
          <a:xfrm>
            <a:off x="457200" y="3520440"/>
            <a:ext cx="3931920" cy="457200"/>
          </a:xfrm>
          <a:prstGeom prst="rect">
            <a:avLst/>
          </a:prstGeom>
          <a:noFill/>
          <a:ln/>
        </p:spPr>
        <p:txBody>
          <a:bodyPr wrap="square" lIns="0" tIns="0" rIns="0" bIns="0" rtlCol="0" anchor="t"/>
          <a:lstStyle/>
          <a:p>
            <a:pPr marL="0" indent="0">
              <a:buNone/>
            </a:pPr>
            <a:r>
              <a:rPr lang="en-US" sz="1000" i="1" dirty="0">
                <a:solidFill>
                  <a:srgbClr val="5B6672"/>
                </a:solidFill>
                <a:latin typeface="Calibri" pitchFamily="34" charset="0"/>
                <a:ea typeface="Calibri" pitchFamily="34" charset="-122"/>
                <a:cs typeface="Calibri" pitchFamily="34" charset="-120"/>
              </a:rPr>
              <a:t>Several targets are BatteryNL consortium members; our advisor's group is inside that consortium.</a:t>
            </a:r>
            <a:endParaRPr lang="en-US" sz="1000" dirty="0"/>
          </a:p>
        </p:txBody>
      </p:sp>
      <p:sp>
        <p:nvSpPr>
          <p:cNvPr id="11" name="Text 9"/>
          <p:cNvSpPr txBox="1"/>
          <p:nvPr/>
        </p:nvSpPr>
        <p:spPr>
          <a:xfrm>
            <a:off x="4846320" y="1005840"/>
            <a:ext cx="3840480" cy="320040"/>
          </a:xfrm>
          <a:prstGeom prst="rect">
            <a:avLst/>
          </a:prstGeom>
          <a:noFill/>
          <a:ln/>
        </p:spPr>
        <p:txBody>
          <a:bodyPr wrap="square" lIns="0" tIns="0" rIns="0" bIns="0" rtlCol="0" anchor="ctr"/>
          <a:lstStyle/>
          <a:p>
            <a:pPr marL="0" indent="0">
              <a:buNone/>
            </a:pPr>
            <a:r>
              <a:rPr lang="en-US" sz="1300" b="1" dirty="0">
                <a:solidFill>
                  <a:srgbClr val="0F5C6E"/>
                </a:solidFill>
                <a:latin typeface="Calibri" pitchFamily="34" charset="0"/>
                <a:ea typeface="Calibri" pitchFamily="34" charset="-122"/>
                <a:cs typeface="Calibri" pitchFamily="34" charset="-120"/>
              </a:rPr>
              <a:t>Business model</a:t>
            </a:r>
            <a:endParaRPr lang="en-US" sz="1300" dirty="0"/>
          </a:p>
        </p:txBody>
      </p:sp>
      <p:sp>
        <p:nvSpPr>
          <p:cNvPr id="12" name="Shape 10"/>
          <p:cNvSpPr/>
          <p:nvPr/>
        </p:nvSpPr>
        <p:spPr>
          <a:xfrm>
            <a:off x="4846320" y="1417320"/>
            <a:ext cx="384048" cy="384048"/>
          </a:xfrm>
          <a:prstGeom prst="ellipse">
            <a:avLst/>
          </a:prstGeom>
          <a:solidFill>
            <a:srgbClr val="0F5C6E"/>
          </a:solidFill>
          <a:ln w="12700">
            <a:solidFill>
              <a:srgbClr val="0F5C6E"/>
            </a:solidFill>
            <a:prstDash val="solid"/>
          </a:ln>
        </p:spPr>
        <p:txBody>
          <a:bodyPr/>
          <a:lstStyle/>
          <a:p>
            <a:endParaRPr lang="en-NL"/>
          </a:p>
        </p:txBody>
      </p:sp>
      <p:sp>
        <p:nvSpPr>
          <p:cNvPr id="13" name="Text 11"/>
          <p:cNvSpPr txBox="1"/>
          <p:nvPr/>
        </p:nvSpPr>
        <p:spPr>
          <a:xfrm>
            <a:off x="4846320" y="14173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5349240" y="1371600"/>
            <a:ext cx="3337560" cy="292608"/>
          </a:xfrm>
          <a:prstGeom prst="rect">
            <a:avLst/>
          </a:prstGeom>
          <a:noFill/>
          <a:ln/>
        </p:spPr>
        <p:txBody>
          <a:bodyPr wrap="square" lIns="0" tIns="0" rIns="0" bIns="0" rtlCol="0" anchor="ctr"/>
          <a:lstStyle/>
          <a:p>
            <a:pPr marL="0" indent="0">
              <a:buNone/>
            </a:pPr>
            <a:r>
              <a:rPr lang="en-US" sz="1000" dirty="0">
                <a:solidFill>
                  <a:srgbClr val="5B6672"/>
                </a:solidFill>
                <a:latin typeface="Calibri" pitchFamily="34" charset="0"/>
                <a:ea typeface="Calibri" pitchFamily="34" charset="-122"/>
                <a:cs typeface="Calibri" pitchFamily="34" charset="-120"/>
              </a:rPr>
              <a:t>Year 1  </a:t>
            </a:r>
            <a:r>
              <a:rPr lang="en-US" sz="1250" b="1" dirty="0">
                <a:solidFill>
                  <a:srgbClr val="1A2230"/>
                </a:solidFill>
                <a:latin typeface="Calibri" pitchFamily="34" charset="0"/>
                <a:ea typeface="Calibri" pitchFamily="34" charset="-122"/>
                <a:cs typeface="Calibri" pitchFamily="34" charset="-120"/>
              </a:rPr>
              <a:t>Paid pilots as the data engine</a:t>
            </a:r>
            <a:endParaRPr lang="en-US" sz="1000" dirty="0"/>
          </a:p>
        </p:txBody>
      </p:sp>
      <p:sp>
        <p:nvSpPr>
          <p:cNvPr id="15" name="Text 13"/>
          <p:cNvSpPr txBox="1"/>
          <p:nvPr/>
        </p:nvSpPr>
        <p:spPr>
          <a:xfrm>
            <a:off x="5349240" y="1673352"/>
            <a:ext cx="3337560" cy="548640"/>
          </a:xfrm>
          <a:prstGeom prst="rect">
            <a:avLst/>
          </a:prstGeom>
          <a:noFill/>
          <a:ln/>
        </p:spPr>
        <p:txBody>
          <a:bodyPr wrap="square" lIns="0" tIns="0" rIns="0" bIns="0" rtlCol="0" anchor="t"/>
          <a:lstStyle/>
          <a:p>
            <a:pPr marL="0" indent="0">
              <a:buNone/>
            </a:pPr>
            <a:r>
              <a:rPr lang="en-US" sz="1000" dirty="0">
                <a:solidFill>
                  <a:srgbClr val="5B6672"/>
                </a:solidFill>
                <a:latin typeface="Calibri" pitchFamily="34" charset="0"/>
                <a:ea typeface="Calibri" pitchFamily="34" charset="-122"/>
                <a:cs typeface="Calibri" pitchFamily="34" charset="-120"/>
              </a:rPr>
              <a:t>Each screening-plus-validation project adds a validated formulation to our dataset. Customers fund the engine; the engine gets better with every project.</a:t>
            </a:r>
            <a:endParaRPr lang="en-US" sz="1000" dirty="0"/>
          </a:p>
        </p:txBody>
      </p:sp>
      <p:sp>
        <p:nvSpPr>
          <p:cNvPr id="16" name="Shape 14"/>
          <p:cNvSpPr/>
          <p:nvPr/>
        </p:nvSpPr>
        <p:spPr>
          <a:xfrm>
            <a:off x="4846320" y="2286000"/>
            <a:ext cx="384048" cy="384048"/>
          </a:xfrm>
          <a:prstGeom prst="ellipse">
            <a:avLst/>
          </a:prstGeom>
          <a:solidFill>
            <a:srgbClr val="0F5C6E"/>
          </a:solidFill>
          <a:ln w="12700">
            <a:solidFill>
              <a:srgbClr val="0F5C6E"/>
            </a:solidFill>
            <a:prstDash val="solid"/>
          </a:ln>
        </p:spPr>
        <p:txBody>
          <a:bodyPr/>
          <a:lstStyle/>
          <a:p>
            <a:endParaRPr lang="en-NL"/>
          </a:p>
        </p:txBody>
      </p:sp>
      <p:sp>
        <p:nvSpPr>
          <p:cNvPr id="17" name="Text 15"/>
          <p:cNvSpPr txBox="1"/>
          <p:nvPr/>
        </p:nvSpPr>
        <p:spPr>
          <a:xfrm>
            <a:off x="4846320" y="22860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5349240" y="2240280"/>
            <a:ext cx="3337560" cy="292608"/>
          </a:xfrm>
          <a:prstGeom prst="rect">
            <a:avLst/>
          </a:prstGeom>
          <a:noFill/>
          <a:ln/>
        </p:spPr>
        <p:txBody>
          <a:bodyPr wrap="square" lIns="0" tIns="0" rIns="0" bIns="0" rtlCol="0" anchor="ctr"/>
          <a:lstStyle/>
          <a:p>
            <a:pPr marL="0" indent="0">
              <a:buNone/>
            </a:pPr>
            <a:r>
              <a:rPr lang="en-US" sz="1000" dirty="0">
                <a:solidFill>
                  <a:srgbClr val="5B6672"/>
                </a:solidFill>
                <a:latin typeface="Calibri" pitchFamily="34" charset="0"/>
                <a:ea typeface="Calibri" pitchFamily="34" charset="-122"/>
                <a:cs typeface="Calibri" pitchFamily="34" charset="-120"/>
              </a:rPr>
              <a:t>Year 2  </a:t>
            </a:r>
            <a:r>
              <a:rPr lang="en-US" sz="1250" b="1" dirty="0">
                <a:solidFill>
                  <a:srgbClr val="1A2230"/>
                </a:solidFill>
                <a:latin typeface="Calibri" pitchFamily="34" charset="0"/>
                <a:ea typeface="Calibri" pitchFamily="34" charset="-122"/>
                <a:cs typeface="Calibri" pitchFamily="34" charset="-120"/>
              </a:rPr>
              <a:t>Platform on subscription</a:t>
            </a:r>
            <a:endParaRPr lang="en-US" sz="1000" dirty="0"/>
          </a:p>
        </p:txBody>
      </p:sp>
      <p:sp>
        <p:nvSpPr>
          <p:cNvPr id="19" name="Text 17"/>
          <p:cNvSpPr txBox="1"/>
          <p:nvPr/>
        </p:nvSpPr>
        <p:spPr>
          <a:xfrm>
            <a:off x="5349240" y="2542032"/>
            <a:ext cx="3337560" cy="548640"/>
          </a:xfrm>
          <a:prstGeom prst="rect">
            <a:avLst/>
          </a:prstGeom>
          <a:noFill/>
          <a:ln/>
        </p:spPr>
        <p:txBody>
          <a:bodyPr wrap="square" lIns="0" tIns="0" rIns="0" bIns="0" rtlCol="0" anchor="t"/>
          <a:lstStyle/>
          <a:p>
            <a:pPr marL="0" indent="0">
              <a:buNone/>
            </a:pPr>
            <a:r>
              <a:rPr lang="en-US" sz="1000" dirty="0">
                <a:solidFill>
                  <a:srgbClr val="5B6672"/>
                </a:solidFill>
                <a:latin typeface="Calibri" pitchFamily="34" charset="0"/>
                <a:ea typeface="Calibri" pitchFamily="34" charset="-122"/>
                <a:cs typeface="Calibri" pitchFamily="34" charset="-120"/>
              </a:rPr>
              <a:t>Self-serve screening software for R&amp;D teams, trained on that growing dataset. Same model, more customers, no extra headcount.</a:t>
            </a:r>
            <a:endParaRPr lang="en-US" sz="1000" dirty="0"/>
          </a:p>
        </p:txBody>
      </p:sp>
      <p:sp>
        <p:nvSpPr>
          <p:cNvPr id="20" name="Shape 18"/>
          <p:cNvSpPr/>
          <p:nvPr/>
        </p:nvSpPr>
        <p:spPr>
          <a:xfrm>
            <a:off x="4846320" y="3154680"/>
            <a:ext cx="384048" cy="384048"/>
          </a:xfrm>
          <a:prstGeom prst="ellipse">
            <a:avLst/>
          </a:prstGeom>
          <a:solidFill>
            <a:srgbClr val="E8A838"/>
          </a:solidFill>
          <a:ln w="12700">
            <a:solidFill>
              <a:srgbClr val="E8A838"/>
            </a:solidFill>
            <a:prstDash val="solid"/>
          </a:ln>
        </p:spPr>
        <p:txBody>
          <a:bodyPr/>
          <a:lstStyle/>
          <a:p>
            <a:endParaRPr lang="en-NL"/>
          </a:p>
        </p:txBody>
      </p:sp>
      <p:sp>
        <p:nvSpPr>
          <p:cNvPr id="21" name="Text 19"/>
          <p:cNvSpPr txBox="1"/>
          <p:nvPr/>
        </p:nvSpPr>
        <p:spPr>
          <a:xfrm>
            <a:off x="4846320" y="3154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5349240" y="3108960"/>
            <a:ext cx="3337560" cy="292608"/>
          </a:xfrm>
          <a:prstGeom prst="rect">
            <a:avLst/>
          </a:prstGeom>
          <a:noFill/>
          <a:ln/>
        </p:spPr>
        <p:txBody>
          <a:bodyPr wrap="square" lIns="0" tIns="0" rIns="0" bIns="0" rtlCol="0" anchor="ctr"/>
          <a:lstStyle/>
          <a:p>
            <a:pPr marL="0" indent="0">
              <a:buNone/>
            </a:pPr>
            <a:r>
              <a:rPr lang="en-US" sz="1000" dirty="0">
                <a:solidFill>
                  <a:srgbClr val="5B6672"/>
                </a:solidFill>
                <a:latin typeface="Calibri" pitchFamily="34" charset="0"/>
                <a:ea typeface="Calibri" pitchFamily="34" charset="-122"/>
                <a:cs typeface="Calibri" pitchFamily="34" charset="-120"/>
              </a:rPr>
              <a:t>Always  </a:t>
            </a:r>
            <a:r>
              <a:rPr lang="en-US" sz="1250" b="1" dirty="0">
                <a:solidFill>
                  <a:srgbClr val="1A2230"/>
                </a:solidFill>
                <a:latin typeface="Calibri" pitchFamily="34" charset="0"/>
                <a:ea typeface="Calibri" pitchFamily="34" charset="-122"/>
                <a:cs typeface="Calibri" pitchFamily="34" charset="-120"/>
              </a:rPr>
              <a:t>Validated in the Netherlands</a:t>
            </a:r>
            <a:endParaRPr lang="en-US" sz="1000" dirty="0"/>
          </a:p>
        </p:txBody>
      </p:sp>
      <p:sp>
        <p:nvSpPr>
          <p:cNvPr id="23" name="Text 21"/>
          <p:cNvSpPr txBox="1"/>
          <p:nvPr/>
        </p:nvSpPr>
        <p:spPr>
          <a:xfrm>
            <a:off x="5349240" y="3410712"/>
            <a:ext cx="3337560" cy="548640"/>
          </a:xfrm>
          <a:prstGeom prst="rect">
            <a:avLst/>
          </a:prstGeom>
          <a:noFill/>
          <a:ln/>
        </p:spPr>
        <p:txBody>
          <a:bodyPr wrap="square" lIns="0" tIns="0" rIns="0" bIns="0" rtlCol="0" anchor="t"/>
          <a:lstStyle/>
          <a:p>
            <a:pPr marL="0" indent="0">
              <a:buNone/>
            </a:pPr>
            <a:r>
              <a:rPr lang="en-US" sz="1000" dirty="0">
                <a:solidFill>
                  <a:srgbClr val="5B6672"/>
                </a:solidFill>
                <a:latin typeface="Calibri" pitchFamily="34" charset="0"/>
                <a:ea typeface="Calibri" pitchFamily="34" charset="-122"/>
                <a:cs typeface="Calibri" pitchFamily="34" charset="-120"/>
              </a:rPr>
              <a:t>Samples made and cells tested with partner labs in Utrecht. Materials sourced through established global supply chains.</a:t>
            </a:r>
            <a:endParaRPr lang="en-US" sz="1000" dirty="0"/>
          </a:p>
        </p:txBody>
      </p:sp>
      <p:sp>
        <p:nvSpPr>
          <p:cNvPr id="24" name="Text 22"/>
          <p:cNvSpPr txBox="1"/>
          <p:nvPr/>
        </p:nvSpPr>
        <p:spPr>
          <a:xfrm>
            <a:off x="457200" y="4069080"/>
            <a:ext cx="8229600" cy="548640"/>
          </a:xfrm>
          <a:prstGeom prst="rect">
            <a:avLst/>
          </a:prstGeom>
          <a:noFill/>
          <a:ln/>
        </p:spPr>
        <p:txBody>
          <a:bodyPr wrap="square" lIns="0" tIns="0" rIns="0" bIns="0" rtlCol="0" anchor="t"/>
          <a:lstStyle/>
          <a:p>
            <a:pPr marL="0" indent="0">
              <a:buNone/>
            </a:pPr>
            <a:r>
              <a:rPr lang="en-US" sz="1050" dirty="0">
                <a:solidFill>
                  <a:srgbClr val="1A2230"/>
                </a:solidFill>
                <a:latin typeface="Calibri" pitchFamily="34" charset="0"/>
                <a:ea typeface="Calibri" pitchFamily="34" charset="-122"/>
                <a:cs typeface="Calibri" pitchFamily="34" charset="-120"/>
              </a:rPr>
              <a:t>Flywheel: project → validated data → better screening model → faster, cheaper next project. Market: lithium-ion electrolyte is USD 10 billion and growing at double-digit rates; materials informatics grows faster.</a:t>
            </a:r>
            <a:endParaRPr lang="en-US" sz="1050" dirty="0"/>
          </a:p>
        </p:txBody>
      </p:sp>
      <p:sp>
        <p:nvSpPr>
          <p:cNvPr id="25" name="Text 23"/>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B6672"/>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0F5C6E"/>
                </a:solidFill>
                <a:latin typeface="Calibri" pitchFamily="34" charset="0"/>
                <a:ea typeface="Calibri" pitchFamily="34" charset="-122"/>
                <a:cs typeface="Calibri" pitchFamily="34" charset="-120"/>
              </a:rPr>
              <a:t>Four people: science, engineering, business, validation</a:t>
            </a:r>
            <a:endParaRPr lang="en-US" sz="2600" dirty="0"/>
          </a:p>
        </p:txBody>
      </p:sp>
      <p:pic>
        <p:nvPicPr>
          <p:cNvPr id="3" name="Image 0" descr="/Users/jian/Library/CloudStorage/OneDrive-UniversiteitUtrecht/Documents/ArchivedDocs/Solvation Labs/_deck_build/jian.jpg"/>
          <p:cNvPicPr>
            <a:picLocks noChangeAspect="1"/>
          </p:cNvPicPr>
          <p:nvPr/>
        </p:nvPicPr>
        <p:blipFill>
          <a:blip r:embed="rId3"/>
          <a:stretch>
            <a:fillRect/>
          </a:stretch>
        </p:blipFill>
        <p:spPr>
          <a:xfrm>
            <a:off x="868680" y="1051560"/>
            <a:ext cx="1097280" cy="1097280"/>
          </a:xfrm>
          <a:prstGeom prst="ellipse">
            <a:avLst/>
          </a:prstGeom>
        </p:spPr>
      </p:pic>
      <p:sp>
        <p:nvSpPr>
          <p:cNvPr id="4" name="Text 1"/>
          <p:cNvSpPr txBox="1"/>
          <p:nvPr/>
        </p:nvSpPr>
        <p:spPr>
          <a:xfrm>
            <a:off x="457200" y="2240280"/>
            <a:ext cx="1920240" cy="320040"/>
          </a:xfrm>
          <a:prstGeom prst="rect">
            <a:avLst/>
          </a:prstGeom>
          <a:noFill/>
          <a:ln/>
        </p:spPr>
        <p:txBody>
          <a:bodyPr wrap="square" lIns="0" tIns="0" rIns="0" bIns="0" rtlCol="0" anchor="ctr"/>
          <a:lstStyle/>
          <a:p>
            <a:pPr marL="0" indent="0" algn="ctr">
              <a:buNone/>
            </a:pPr>
            <a:r>
              <a:rPr lang="en-US" sz="1350" b="1" dirty="0">
                <a:solidFill>
                  <a:srgbClr val="1A2230"/>
                </a:solidFill>
                <a:latin typeface="Calibri" pitchFamily="34" charset="0"/>
                <a:ea typeface="Calibri" pitchFamily="34" charset="-122"/>
                <a:cs typeface="Calibri" pitchFamily="34" charset="-120"/>
              </a:rPr>
              <a:t>Jian He</a:t>
            </a:r>
            <a:endParaRPr lang="en-US" sz="1350" dirty="0"/>
          </a:p>
        </p:txBody>
      </p:sp>
      <p:sp>
        <p:nvSpPr>
          <p:cNvPr id="5" name="Text 2"/>
          <p:cNvSpPr txBox="1"/>
          <p:nvPr/>
        </p:nvSpPr>
        <p:spPr>
          <a:xfrm>
            <a:off x="457200" y="2560320"/>
            <a:ext cx="1920240" cy="274320"/>
          </a:xfrm>
          <a:prstGeom prst="rect">
            <a:avLst/>
          </a:prstGeom>
          <a:noFill/>
          <a:ln/>
        </p:spPr>
        <p:txBody>
          <a:bodyPr wrap="square" lIns="0" tIns="0" rIns="0" bIns="0" rtlCol="0" anchor="ctr"/>
          <a:lstStyle/>
          <a:p>
            <a:pPr marL="0" indent="0" algn="ctr">
              <a:buNone/>
            </a:pPr>
            <a:r>
              <a:rPr lang="en-US" sz="1000" b="1" dirty="0">
                <a:solidFill>
                  <a:srgbClr val="0F5C6E"/>
                </a:solidFill>
                <a:latin typeface="Calibri" pitchFamily="34" charset="0"/>
                <a:ea typeface="Calibri" pitchFamily="34" charset="-122"/>
                <a:cs typeface="Calibri" pitchFamily="34" charset="-120"/>
              </a:rPr>
              <a:t>Founder, science and platform</a:t>
            </a:r>
            <a:endParaRPr lang="en-US" sz="1000" dirty="0"/>
          </a:p>
        </p:txBody>
      </p:sp>
      <p:sp>
        <p:nvSpPr>
          <p:cNvPr id="6" name="Text 3"/>
          <p:cNvSpPr txBox="1"/>
          <p:nvPr/>
        </p:nvSpPr>
        <p:spPr>
          <a:xfrm>
            <a:off x="457200" y="2880360"/>
            <a:ext cx="1920240" cy="1371600"/>
          </a:xfrm>
          <a:prstGeom prst="rect">
            <a:avLst/>
          </a:prstGeom>
          <a:noFill/>
          <a:ln/>
        </p:spPr>
        <p:txBody>
          <a:bodyPr wrap="square" lIns="0" tIns="0" rIns="0" bIns="0" rtlCol="0" anchor="t"/>
          <a:lstStyle/>
          <a:p>
            <a:pPr marL="0" indent="0" algn="ctr">
              <a:buNone/>
            </a:pPr>
            <a:r>
              <a:rPr lang="en-US" sz="1000" dirty="0">
                <a:solidFill>
                  <a:srgbClr val="5B6672"/>
                </a:solidFill>
                <a:latin typeface="Calibri" pitchFamily="34" charset="0"/>
                <a:ea typeface="Calibri" pitchFamily="34" charset="-122"/>
                <a:cs typeface="Calibri" pitchFamily="34" charset="-120"/>
              </a:rPr>
              <a:t>PhD computational materials science, Utrecht (Sep 2026). Author of the screening method. Former simulation lead of a ten-person electrolyte team.</a:t>
            </a:r>
            <a:endParaRPr lang="en-US" sz="1000" dirty="0"/>
          </a:p>
        </p:txBody>
      </p:sp>
      <p:pic>
        <p:nvPicPr>
          <p:cNvPr id="7" name="Image 1" descr="/Users/jian/Library/CloudStorage/OneDrive-UniversiteitUtrecht/Documents/ArchivedDocs/Solvation Labs/_deck_build/alex.jpg"/>
          <p:cNvPicPr>
            <a:picLocks noChangeAspect="1"/>
          </p:cNvPicPr>
          <p:nvPr/>
        </p:nvPicPr>
        <p:blipFill>
          <a:blip r:embed="rId4"/>
          <a:stretch>
            <a:fillRect/>
          </a:stretch>
        </p:blipFill>
        <p:spPr>
          <a:xfrm>
            <a:off x="2971800" y="1051560"/>
            <a:ext cx="1097280" cy="1097280"/>
          </a:xfrm>
          <a:prstGeom prst="ellipse">
            <a:avLst/>
          </a:prstGeom>
        </p:spPr>
      </p:pic>
      <p:sp>
        <p:nvSpPr>
          <p:cNvPr id="8" name="Text 4"/>
          <p:cNvSpPr txBox="1"/>
          <p:nvPr/>
        </p:nvSpPr>
        <p:spPr>
          <a:xfrm>
            <a:off x="2560320" y="2240280"/>
            <a:ext cx="1920240" cy="320040"/>
          </a:xfrm>
          <a:prstGeom prst="rect">
            <a:avLst/>
          </a:prstGeom>
          <a:noFill/>
          <a:ln/>
        </p:spPr>
        <p:txBody>
          <a:bodyPr wrap="square" lIns="0" tIns="0" rIns="0" bIns="0" rtlCol="0" anchor="ctr"/>
          <a:lstStyle/>
          <a:p>
            <a:pPr marL="0" indent="0" algn="ctr">
              <a:buNone/>
            </a:pPr>
            <a:r>
              <a:rPr lang="en-US" sz="1350" b="1" dirty="0">
                <a:solidFill>
                  <a:srgbClr val="1A2230"/>
                </a:solidFill>
                <a:latin typeface="Calibri" pitchFamily="34" charset="0"/>
                <a:ea typeface="Calibri" pitchFamily="34" charset="-122"/>
                <a:cs typeface="Calibri" pitchFamily="34" charset="-120"/>
              </a:rPr>
              <a:t>Xiaoxuan (Alex) Zhang</a:t>
            </a:r>
            <a:endParaRPr lang="en-US" sz="1350" dirty="0"/>
          </a:p>
        </p:txBody>
      </p:sp>
      <p:sp>
        <p:nvSpPr>
          <p:cNvPr id="9" name="Text 5"/>
          <p:cNvSpPr txBox="1"/>
          <p:nvPr/>
        </p:nvSpPr>
        <p:spPr>
          <a:xfrm>
            <a:off x="2560320" y="2560320"/>
            <a:ext cx="1920240" cy="274320"/>
          </a:xfrm>
          <a:prstGeom prst="rect">
            <a:avLst/>
          </a:prstGeom>
          <a:noFill/>
          <a:ln/>
        </p:spPr>
        <p:txBody>
          <a:bodyPr wrap="square" lIns="0" tIns="0" rIns="0" bIns="0" rtlCol="0" anchor="ctr"/>
          <a:lstStyle/>
          <a:p>
            <a:pPr marL="0" indent="0" algn="ctr">
              <a:buNone/>
            </a:pPr>
            <a:r>
              <a:rPr lang="en-US" sz="1000" b="1" dirty="0">
                <a:solidFill>
                  <a:srgbClr val="0F5C6E"/>
                </a:solidFill>
                <a:latin typeface="Calibri" pitchFamily="34" charset="0"/>
                <a:ea typeface="Calibri" pitchFamily="34" charset="-122"/>
                <a:cs typeface="Calibri" pitchFamily="34" charset="-120"/>
              </a:rPr>
              <a:t>ML engineer</a:t>
            </a:r>
            <a:endParaRPr lang="en-US" sz="1000" dirty="0"/>
          </a:p>
        </p:txBody>
      </p:sp>
      <p:sp>
        <p:nvSpPr>
          <p:cNvPr id="10" name="Text 6"/>
          <p:cNvSpPr txBox="1"/>
          <p:nvPr/>
        </p:nvSpPr>
        <p:spPr>
          <a:xfrm>
            <a:off x="2560320" y="2880360"/>
            <a:ext cx="1920240" cy="1371600"/>
          </a:xfrm>
          <a:prstGeom prst="rect">
            <a:avLst/>
          </a:prstGeom>
          <a:noFill/>
          <a:ln/>
        </p:spPr>
        <p:txBody>
          <a:bodyPr wrap="square" lIns="0" tIns="0" rIns="0" bIns="0" rtlCol="0" anchor="t"/>
          <a:lstStyle/>
          <a:p>
            <a:pPr marL="0" indent="0" algn="ctr">
              <a:buNone/>
            </a:pPr>
            <a:r>
              <a:rPr lang="en-US" sz="1000" dirty="0">
                <a:solidFill>
                  <a:srgbClr val="5B6672"/>
                </a:solidFill>
                <a:latin typeface="Calibri" pitchFamily="34" charset="0"/>
                <a:ea typeface="Calibri" pitchFamily="34" charset="-122"/>
                <a:cs typeface="Calibri" pitchFamily="34" charset="-120"/>
              </a:rPr>
              <a:t>Six years of backend and AI engineering. MSc Computational Science, UvA. Builds the agent orchestration.</a:t>
            </a:r>
            <a:endParaRPr lang="en-US" sz="1000" dirty="0"/>
          </a:p>
        </p:txBody>
      </p:sp>
      <p:pic>
        <p:nvPicPr>
          <p:cNvPr id="11" name="Image 2" descr="/Users/jian/Library/CloudStorage/OneDrive-UniversiteitUtrecht/Documents/ArchivedDocs/Solvation Labs/_deck_build/qing.jpg"/>
          <p:cNvPicPr>
            <a:picLocks noChangeAspect="1"/>
          </p:cNvPicPr>
          <p:nvPr/>
        </p:nvPicPr>
        <p:blipFill>
          <a:blip r:embed="rId5"/>
          <a:stretch>
            <a:fillRect/>
          </a:stretch>
        </p:blipFill>
        <p:spPr>
          <a:xfrm>
            <a:off x="5074920" y="1051560"/>
            <a:ext cx="1097280" cy="1097280"/>
          </a:xfrm>
          <a:prstGeom prst="ellipse">
            <a:avLst/>
          </a:prstGeom>
        </p:spPr>
      </p:pic>
      <p:sp>
        <p:nvSpPr>
          <p:cNvPr id="12" name="Text 7"/>
          <p:cNvSpPr txBox="1"/>
          <p:nvPr/>
        </p:nvSpPr>
        <p:spPr>
          <a:xfrm>
            <a:off x="4663440" y="2240280"/>
            <a:ext cx="1920240" cy="320040"/>
          </a:xfrm>
          <a:prstGeom prst="rect">
            <a:avLst/>
          </a:prstGeom>
          <a:noFill/>
          <a:ln/>
        </p:spPr>
        <p:txBody>
          <a:bodyPr wrap="square" lIns="0" tIns="0" rIns="0" bIns="0" rtlCol="0" anchor="ctr"/>
          <a:lstStyle/>
          <a:p>
            <a:pPr marL="0" indent="0" algn="ctr">
              <a:buNone/>
            </a:pPr>
            <a:r>
              <a:rPr lang="en-US" sz="1350" b="1" dirty="0">
                <a:solidFill>
                  <a:srgbClr val="1A2230"/>
                </a:solidFill>
                <a:latin typeface="Calibri" pitchFamily="34" charset="0"/>
                <a:ea typeface="Calibri" pitchFamily="34" charset="-122"/>
                <a:cs typeface="Calibri" pitchFamily="34" charset="-120"/>
              </a:rPr>
              <a:t>Qing Zhou</a:t>
            </a:r>
            <a:endParaRPr lang="en-US" sz="1350" dirty="0"/>
          </a:p>
        </p:txBody>
      </p:sp>
      <p:sp>
        <p:nvSpPr>
          <p:cNvPr id="13" name="Text 8"/>
          <p:cNvSpPr txBox="1"/>
          <p:nvPr/>
        </p:nvSpPr>
        <p:spPr>
          <a:xfrm>
            <a:off x="4663440" y="2560320"/>
            <a:ext cx="1920240" cy="274320"/>
          </a:xfrm>
          <a:prstGeom prst="rect">
            <a:avLst/>
          </a:prstGeom>
          <a:noFill/>
          <a:ln/>
        </p:spPr>
        <p:txBody>
          <a:bodyPr wrap="square" lIns="0" tIns="0" rIns="0" bIns="0" rtlCol="0" anchor="ctr"/>
          <a:lstStyle/>
          <a:p>
            <a:pPr marL="0" indent="0" algn="ctr">
              <a:buNone/>
            </a:pPr>
            <a:r>
              <a:rPr lang="en-US" sz="1000" b="1" dirty="0">
                <a:solidFill>
                  <a:srgbClr val="0F5C6E"/>
                </a:solidFill>
                <a:latin typeface="Calibri" pitchFamily="34" charset="0"/>
                <a:ea typeface="Calibri" pitchFamily="34" charset="-122"/>
                <a:cs typeface="Calibri" pitchFamily="34" charset="-120"/>
              </a:rPr>
              <a:t>Business operations</a:t>
            </a:r>
            <a:endParaRPr lang="en-US" sz="1000" dirty="0"/>
          </a:p>
        </p:txBody>
      </p:sp>
      <p:sp>
        <p:nvSpPr>
          <p:cNvPr id="14" name="Text 9"/>
          <p:cNvSpPr txBox="1"/>
          <p:nvPr/>
        </p:nvSpPr>
        <p:spPr>
          <a:xfrm>
            <a:off x="4663440" y="2880360"/>
            <a:ext cx="1920240" cy="1371600"/>
          </a:xfrm>
          <a:prstGeom prst="rect">
            <a:avLst/>
          </a:prstGeom>
          <a:noFill/>
          <a:ln/>
        </p:spPr>
        <p:txBody>
          <a:bodyPr wrap="square" lIns="0" tIns="0" rIns="0" bIns="0" rtlCol="0" anchor="t"/>
          <a:lstStyle/>
          <a:p>
            <a:pPr marL="0" indent="0" algn="ctr">
              <a:buNone/>
            </a:pPr>
            <a:r>
              <a:rPr lang="en-US" sz="1000" dirty="0">
                <a:solidFill>
                  <a:srgbClr val="5B6672"/>
                </a:solidFill>
                <a:latin typeface="Calibri" pitchFamily="34" charset="0"/>
                <a:ea typeface="Calibri" pitchFamily="34" charset="-122"/>
                <a:cs typeface="Calibri" pitchFamily="34" charset="-120"/>
              </a:rPr>
              <a:t>Four years running an independent marketing business. Owns customer outreach, brand and operations.</a:t>
            </a:r>
            <a:endParaRPr lang="en-US" sz="1000" dirty="0"/>
          </a:p>
        </p:txBody>
      </p:sp>
      <p:pic>
        <p:nvPicPr>
          <p:cNvPr id="15" name="Image 3" descr="/Users/jian/Library/CloudStorage/OneDrive-UniversiteitUtrecht/Documents/ArchivedDocs/Solvation Labs/_deck_build/peter.jpg"/>
          <p:cNvPicPr>
            <a:picLocks noChangeAspect="1"/>
          </p:cNvPicPr>
          <p:nvPr/>
        </p:nvPicPr>
        <p:blipFill>
          <a:blip r:embed="rId6"/>
          <a:stretch>
            <a:fillRect/>
          </a:stretch>
        </p:blipFill>
        <p:spPr>
          <a:xfrm>
            <a:off x="7178040" y="1051560"/>
            <a:ext cx="1097280" cy="1097280"/>
          </a:xfrm>
          <a:prstGeom prst="ellipse">
            <a:avLst/>
          </a:prstGeom>
        </p:spPr>
      </p:pic>
      <p:sp>
        <p:nvSpPr>
          <p:cNvPr id="16" name="Text 10"/>
          <p:cNvSpPr txBox="1"/>
          <p:nvPr/>
        </p:nvSpPr>
        <p:spPr>
          <a:xfrm>
            <a:off x="6766560" y="2240280"/>
            <a:ext cx="1920240" cy="320040"/>
          </a:xfrm>
          <a:prstGeom prst="rect">
            <a:avLst/>
          </a:prstGeom>
          <a:noFill/>
          <a:ln/>
        </p:spPr>
        <p:txBody>
          <a:bodyPr wrap="square" lIns="0" tIns="0" rIns="0" bIns="0" rtlCol="0" anchor="ctr"/>
          <a:lstStyle/>
          <a:p>
            <a:pPr marL="0" indent="0" algn="ctr">
              <a:buNone/>
            </a:pPr>
            <a:r>
              <a:rPr lang="en-US" sz="1350" b="1" dirty="0">
                <a:solidFill>
                  <a:srgbClr val="1A2230"/>
                </a:solidFill>
                <a:latin typeface="Calibri" pitchFamily="34" charset="0"/>
                <a:ea typeface="Calibri" pitchFamily="34" charset="-122"/>
                <a:cs typeface="Calibri" pitchFamily="34" charset="-120"/>
              </a:rPr>
              <a:t>Peter Ngene</a:t>
            </a:r>
            <a:endParaRPr lang="en-US" sz="1350" dirty="0"/>
          </a:p>
        </p:txBody>
      </p:sp>
      <p:sp>
        <p:nvSpPr>
          <p:cNvPr id="17" name="Text 11"/>
          <p:cNvSpPr txBox="1"/>
          <p:nvPr/>
        </p:nvSpPr>
        <p:spPr>
          <a:xfrm>
            <a:off x="6766560" y="2560320"/>
            <a:ext cx="1920240" cy="274320"/>
          </a:xfrm>
          <a:prstGeom prst="rect">
            <a:avLst/>
          </a:prstGeom>
          <a:noFill/>
          <a:ln/>
        </p:spPr>
        <p:txBody>
          <a:bodyPr wrap="square" lIns="0" tIns="0" rIns="0" bIns="0" rtlCol="0" anchor="ctr"/>
          <a:lstStyle/>
          <a:p>
            <a:pPr marL="0" indent="0" algn="ctr">
              <a:buNone/>
            </a:pPr>
            <a:r>
              <a:rPr lang="en-US" sz="1000" b="1" dirty="0">
                <a:solidFill>
                  <a:srgbClr val="0F5C6E"/>
                </a:solidFill>
                <a:latin typeface="Calibri" pitchFamily="34" charset="0"/>
                <a:ea typeface="Calibri" pitchFamily="34" charset="-122"/>
                <a:cs typeface="Calibri" pitchFamily="34" charset="-120"/>
              </a:rPr>
              <a:t>Scientific advisor</a:t>
            </a:r>
            <a:endParaRPr lang="en-US" sz="1000" dirty="0"/>
          </a:p>
        </p:txBody>
      </p:sp>
      <p:sp>
        <p:nvSpPr>
          <p:cNvPr id="18" name="Text 12"/>
          <p:cNvSpPr txBox="1"/>
          <p:nvPr/>
        </p:nvSpPr>
        <p:spPr>
          <a:xfrm>
            <a:off x="6766560" y="2880360"/>
            <a:ext cx="1920240" cy="1371600"/>
          </a:xfrm>
          <a:prstGeom prst="rect">
            <a:avLst/>
          </a:prstGeom>
          <a:noFill/>
          <a:ln/>
        </p:spPr>
        <p:txBody>
          <a:bodyPr wrap="square" lIns="0" tIns="0" rIns="0" bIns="0" rtlCol="0" anchor="t"/>
          <a:lstStyle/>
          <a:p>
            <a:pPr marL="0" indent="0" algn="ctr">
              <a:buNone/>
            </a:pPr>
            <a:r>
              <a:rPr lang="en-US" sz="1000" dirty="0">
                <a:solidFill>
                  <a:srgbClr val="5B6672"/>
                </a:solidFill>
                <a:latin typeface="Calibri" pitchFamily="34" charset="0"/>
                <a:ea typeface="Calibri" pitchFamily="34" charset="-122"/>
                <a:cs typeface="Calibri" pitchFamily="34" charset="-120"/>
              </a:rPr>
              <a:t>Associate Professor of Materials Chemistry, Utrecht. ERC Consolidator laureate, h-index 35. BatteryNL member. Experimental validation route.</a:t>
            </a:r>
            <a:endParaRPr lang="en-US" sz="1000" dirty="0"/>
          </a:p>
        </p:txBody>
      </p:sp>
      <p:sp>
        <p:nvSpPr>
          <p:cNvPr id="20" name="Text 14"/>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B6672"/>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A33"/>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Ten weeks at YES!Delft</a:t>
            </a:r>
            <a:endParaRPr lang="en-US" sz="2600" dirty="0"/>
          </a:p>
        </p:txBody>
      </p:sp>
      <p:sp>
        <p:nvSpPr>
          <p:cNvPr id="3" name="Text 1"/>
          <p:cNvSpPr txBox="1"/>
          <p:nvPr/>
        </p:nvSpPr>
        <p:spPr>
          <a:xfrm>
            <a:off x="457200" y="1097280"/>
            <a:ext cx="731520" cy="640080"/>
          </a:xfrm>
          <a:prstGeom prst="rect">
            <a:avLst/>
          </a:prstGeom>
          <a:noFill/>
          <a:ln/>
        </p:spPr>
        <p:txBody>
          <a:bodyPr wrap="square" lIns="0" tIns="0" rIns="0" bIns="0" rtlCol="0" anchor="ctr"/>
          <a:lstStyle/>
          <a:p>
            <a:pPr marL="0" indent="0">
              <a:buNone/>
            </a:pPr>
            <a:r>
              <a:rPr lang="en-US" sz="4000" b="1" dirty="0">
                <a:solidFill>
                  <a:srgbClr val="E8A838"/>
                </a:solidFill>
                <a:latin typeface="Calibri" pitchFamily="34" charset="0"/>
                <a:ea typeface="Calibri" pitchFamily="34" charset="-122"/>
                <a:cs typeface="Calibri" pitchFamily="34" charset="-120"/>
              </a:rPr>
              <a:t>2</a:t>
            </a:r>
            <a:endParaRPr lang="en-US" sz="4000" dirty="0"/>
          </a:p>
        </p:txBody>
      </p:sp>
      <p:sp>
        <p:nvSpPr>
          <p:cNvPr id="4" name="Text 2"/>
          <p:cNvSpPr txBox="1"/>
          <p:nvPr/>
        </p:nvSpPr>
        <p:spPr>
          <a:xfrm>
            <a:off x="1280160" y="1097280"/>
            <a:ext cx="38404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paid pilot projects with EU cell or materials companies</a:t>
            </a:r>
            <a:endParaRPr lang="en-US" sz="1400" dirty="0"/>
          </a:p>
        </p:txBody>
      </p:sp>
      <p:sp>
        <p:nvSpPr>
          <p:cNvPr id="5" name="Text 3"/>
          <p:cNvSpPr txBox="1"/>
          <p:nvPr/>
        </p:nvSpPr>
        <p:spPr>
          <a:xfrm>
            <a:off x="457200" y="1874520"/>
            <a:ext cx="731520" cy="640080"/>
          </a:xfrm>
          <a:prstGeom prst="rect">
            <a:avLst/>
          </a:prstGeom>
          <a:noFill/>
          <a:ln/>
        </p:spPr>
        <p:txBody>
          <a:bodyPr wrap="square" lIns="0" tIns="0" rIns="0" bIns="0" rtlCol="0" anchor="ctr"/>
          <a:lstStyle/>
          <a:p>
            <a:pPr marL="0" indent="0">
              <a:buNone/>
            </a:pPr>
            <a:r>
              <a:rPr lang="en-US" sz="4000" b="1" dirty="0">
                <a:solidFill>
                  <a:srgbClr val="E8A838"/>
                </a:solidFill>
                <a:latin typeface="Calibri" pitchFamily="34" charset="0"/>
                <a:ea typeface="Calibri" pitchFamily="34" charset="-122"/>
                <a:cs typeface="Calibri" pitchFamily="34" charset="-120"/>
              </a:rPr>
              <a:t>1</a:t>
            </a:r>
            <a:endParaRPr lang="en-US" sz="4000" dirty="0"/>
          </a:p>
        </p:txBody>
      </p:sp>
      <p:sp>
        <p:nvSpPr>
          <p:cNvPr id="6" name="Text 4"/>
          <p:cNvSpPr txBox="1"/>
          <p:nvPr/>
        </p:nvSpPr>
        <p:spPr>
          <a:xfrm>
            <a:off x="1280160" y="1874520"/>
            <a:ext cx="38404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BV incorporated, with YES!Delft as facilitator for the RVO start-up permit</a:t>
            </a:r>
            <a:endParaRPr lang="en-US" sz="1400" dirty="0"/>
          </a:p>
        </p:txBody>
      </p:sp>
      <p:sp>
        <p:nvSpPr>
          <p:cNvPr id="7" name="Text 5"/>
          <p:cNvSpPr txBox="1"/>
          <p:nvPr/>
        </p:nvSpPr>
        <p:spPr>
          <a:xfrm>
            <a:off x="457200" y="2651760"/>
            <a:ext cx="731520" cy="640080"/>
          </a:xfrm>
          <a:prstGeom prst="rect">
            <a:avLst/>
          </a:prstGeom>
          <a:noFill/>
          <a:ln/>
        </p:spPr>
        <p:txBody>
          <a:bodyPr wrap="square" lIns="0" tIns="0" rIns="0" bIns="0" rtlCol="0" anchor="ctr"/>
          <a:lstStyle/>
          <a:p>
            <a:pPr marL="0" indent="0">
              <a:buNone/>
            </a:pPr>
            <a:r>
              <a:rPr lang="en-US" sz="4000" b="1" dirty="0">
                <a:solidFill>
                  <a:srgbClr val="E8A838"/>
                </a:solidFill>
                <a:latin typeface="Calibri" pitchFamily="34" charset="0"/>
                <a:ea typeface="Calibri" pitchFamily="34" charset="-122"/>
                <a:cs typeface="Calibri" pitchFamily="34" charset="-120"/>
              </a:rPr>
              <a:t>1</a:t>
            </a:r>
            <a:endParaRPr lang="en-US" sz="4000" dirty="0"/>
          </a:p>
        </p:txBody>
      </p:sp>
      <p:sp>
        <p:nvSpPr>
          <p:cNvPr id="8" name="Text 6"/>
          <p:cNvSpPr txBox="1"/>
          <p:nvPr/>
        </p:nvSpPr>
        <p:spPr>
          <a:xfrm>
            <a:off x="1280160" y="2651760"/>
            <a:ext cx="38404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real case run end to end: brief, screening, validated samples delivered</a:t>
            </a:r>
            <a:endParaRPr lang="en-US" sz="1400" dirty="0"/>
          </a:p>
        </p:txBody>
      </p:sp>
      <p:sp>
        <p:nvSpPr>
          <p:cNvPr id="9" name="Shape 7"/>
          <p:cNvSpPr/>
          <p:nvPr/>
        </p:nvSpPr>
        <p:spPr>
          <a:xfrm>
            <a:off x="5486400" y="1097280"/>
            <a:ext cx="3200400" cy="2286000"/>
          </a:xfrm>
          <a:prstGeom prst="roundRect">
            <a:avLst>
              <a:gd name="adj" fmla="val 4000"/>
            </a:avLst>
          </a:prstGeom>
          <a:solidFill>
            <a:srgbClr val="123F55"/>
          </a:solidFill>
          <a:ln w="12700">
            <a:solidFill>
              <a:srgbClr val="123F55"/>
            </a:solidFill>
            <a:prstDash val="solid"/>
          </a:ln>
        </p:spPr>
        <p:txBody>
          <a:bodyPr/>
          <a:lstStyle/>
          <a:p>
            <a:endParaRPr lang="en-NL"/>
          </a:p>
        </p:txBody>
      </p:sp>
      <p:sp>
        <p:nvSpPr>
          <p:cNvPr id="10" name="Text 8"/>
          <p:cNvSpPr txBox="1"/>
          <p:nvPr/>
        </p:nvSpPr>
        <p:spPr>
          <a:xfrm>
            <a:off x="5669280" y="1188720"/>
            <a:ext cx="2834640" cy="320040"/>
          </a:xfrm>
          <a:prstGeom prst="rect">
            <a:avLst/>
          </a:prstGeom>
          <a:noFill/>
          <a:ln/>
        </p:spPr>
        <p:txBody>
          <a:bodyPr wrap="square" lIns="0" tIns="0" rIns="0" bIns="0" rtlCol="0" anchor="ctr"/>
          <a:lstStyle/>
          <a:p>
            <a:pPr marL="0" indent="0">
              <a:buNone/>
            </a:pPr>
            <a:r>
              <a:rPr lang="en-US" sz="1300" b="1" dirty="0">
                <a:solidFill>
                  <a:srgbClr val="5FB8C9"/>
                </a:solidFill>
                <a:latin typeface="Calibri" pitchFamily="34" charset="0"/>
                <a:ea typeface="Calibri" pitchFamily="34" charset="-122"/>
                <a:cs typeface="Calibri" pitchFamily="34" charset="-120"/>
              </a:rPr>
              <a:t>What we are looking for</a:t>
            </a:r>
            <a:endParaRPr lang="en-US" sz="1300" dirty="0"/>
          </a:p>
        </p:txBody>
      </p:sp>
      <p:sp>
        <p:nvSpPr>
          <p:cNvPr id="11" name="Text 9"/>
          <p:cNvSpPr txBox="1"/>
          <p:nvPr/>
        </p:nvSpPr>
        <p:spPr>
          <a:xfrm>
            <a:off x="5669280" y="1554480"/>
            <a:ext cx="2834640" cy="17373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mentor who has sold technical services to industrial R&amp;D</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Introductions to German, French and Belgian cell makers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Help scoping and pricing the first pilot</a:t>
            </a:r>
            <a:endParaRPr lang="en-US" sz="1150" dirty="0"/>
          </a:p>
        </p:txBody>
      </p:sp>
      <p:sp>
        <p:nvSpPr>
          <p:cNvPr id="12" name="Shape 10"/>
          <p:cNvSpPr/>
          <p:nvPr/>
        </p:nvSpPr>
        <p:spPr>
          <a:xfrm>
            <a:off x="7818678" y="3639393"/>
            <a:ext cx="45162" cy="429687"/>
          </a:xfrm>
          <a:prstGeom prst="line">
            <a:avLst/>
          </a:prstGeom>
          <a:noFill/>
          <a:ln w="15875">
            <a:solidFill>
              <a:srgbClr val="5FB8C9"/>
            </a:solidFill>
            <a:prstDash val="solid"/>
          </a:ln>
        </p:spPr>
        <p:txBody>
          <a:bodyPr/>
          <a:lstStyle/>
          <a:p>
            <a:endParaRPr lang="en-NL"/>
          </a:p>
        </p:txBody>
      </p:sp>
      <p:sp>
        <p:nvSpPr>
          <p:cNvPr id="13" name="Shape 11"/>
          <p:cNvSpPr/>
          <p:nvPr/>
        </p:nvSpPr>
        <p:spPr>
          <a:xfrm>
            <a:off x="7718094" y="3538809"/>
            <a:ext cx="201168" cy="201168"/>
          </a:xfrm>
          <a:prstGeom prst="ellipse">
            <a:avLst/>
          </a:prstGeom>
          <a:solidFill>
            <a:srgbClr val="5FB8C9"/>
          </a:solidFill>
          <a:ln w="12700">
            <a:solidFill>
              <a:srgbClr val="5FB8C9"/>
            </a:solidFill>
            <a:prstDash val="solid"/>
          </a:ln>
        </p:spPr>
        <p:txBody>
          <a:bodyPr/>
          <a:lstStyle/>
          <a:p>
            <a:endParaRPr lang="en-NL"/>
          </a:p>
        </p:txBody>
      </p:sp>
      <p:sp>
        <p:nvSpPr>
          <p:cNvPr id="14" name="Shape 12"/>
          <p:cNvSpPr/>
          <p:nvPr/>
        </p:nvSpPr>
        <p:spPr>
          <a:xfrm flipH="1">
            <a:off x="7863840" y="4001200"/>
            <a:ext cx="384967" cy="67880"/>
          </a:xfrm>
          <a:prstGeom prst="line">
            <a:avLst/>
          </a:prstGeom>
          <a:noFill/>
          <a:ln w="15875">
            <a:solidFill>
              <a:srgbClr val="5FB8C9"/>
            </a:solidFill>
            <a:prstDash val="solid"/>
          </a:ln>
        </p:spPr>
        <p:txBody>
          <a:bodyPr/>
          <a:lstStyle/>
          <a:p>
            <a:endParaRPr lang="en-NL"/>
          </a:p>
        </p:txBody>
      </p:sp>
      <p:sp>
        <p:nvSpPr>
          <p:cNvPr id="15" name="Shape 13"/>
          <p:cNvSpPr/>
          <p:nvPr/>
        </p:nvSpPr>
        <p:spPr>
          <a:xfrm>
            <a:off x="8148223" y="3900616"/>
            <a:ext cx="201168" cy="201168"/>
          </a:xfrm>
          <a:prstGeom prst="ellipse">
            <a:avLst/>
          </a:prstGeom>
          <a:solidFill>
            <a:srgbClr val="5FB8C9"/>
          </a:solidFill>
          <a:ln w="12700">
            <a:solidFill>
              <a:srgbClr val="5FB8C9"/>
            </a:solidFill>
            <a:prstDash val="solid"/>
          </a:ln>
        </p:spPr>
        <p:txBody>
          <a:bodyPr/>
          <a:lstStyle/>
          <a:p>
            <a:endParaRPr lang="en-NL"/>
          </a:p>
        </p:txBody>
      </p:sp>
      <p:sp>
        <p:nvSpPr>
          <p:cNvPr id="16" name="Shape 14"/>
          <p:cNvSpPr/>
          <p:nvPr/>
        </p:nvSpPr>
        <p:spPr>
          <a:xfrm>
            <a:off x="7863840" y="4069080"/>
            <a:ext cx="289101" cy="321079"/>
          </a:xfrm>
          <a:prstGeom prst="line">
            <a:avLst/>
          </a:prstGeom>
          <a:noFill/>
          <a:ln w="15875">
            <a:solidFill>
              <a:srgbClr val="5FB8C9"/>
            </a:solidFill>
            <a:prstDash val="solid"/>
          </a:ln>
        </p:spPr>
        <p:txBody>
          <a:bodyPr/>
          <a:lstStyle/>
          <a:p>
            <a:endParaRPr lang="en-NL"/>
          </a:p>
        </p:txBody>
      </p:sp>
      <p:sp>
        <p:nvSpPr>
          <p:cNvPr id="17" name="Shape 15"/>
          <p:cNvSpPr/>
          <p:nvPr/>
        </p:nvSpPr>
        <p:spPr>
          <a:xfrm>
            <a:off x="8052357" y="4289575"/>
            <a:ext cx="201168" cy="201168"/>
          </a:xfrm>
          <a:prstGeom prst="ellipse">
            <a:avLst/>
          </a:prstGeom>
          <a:solidFill>
            <a:srgbClr val="5FB8C9"/>
          </a:solidFill>
          <a:ln w="12700">
            <a:solidFill>
              <a:srgbClr val="5FB8C9"/>
            </a:solidFill>
            <a:prstDash val="solid"/>
          </a:ln>
        </p:spPr>
        <p:txBody>
          <a:bodyPr/>
          <a:lstStyle/>
          <a:p>
            <a:endParaRPr lang="en-NL"/>
          </a:p>
        </p:txBody>
      </p:sp>
      <p:sp>
        <p:nvSpPr>
          <p:cNvPr id="18" name="Shape 16"/>
          <p:cNvSpPr/>
          <p:nvPr/>
        </p:nvSpPr>
        <p:spPr>
          <a:xfrm flipH="1">
            <a:off x="7592294" y="4069080"/>
            <a:ext cx="271546" cy="281194"/>
          </a:xfrm>
          <a:prstGeom prst="line">
            <a:avLst/>
          </a:prstGeom>
          <a:noFill/>
          <a:ln w="15875">
            <a:solidFill>
              <a:srgbClr val="5FB8C9"/>
            </a:solidFill>
            <a:prstDash val="solid"/>
          </a:ln>
        </p:spPr>
        <p:txBody>
          <a:bodyPr/>
          <a:lstStyle/>
          <a:p>
            <a:endParaRPr lang="en-NL"/>
          </a:p>
        </p:txBody>
      </p:sp>
      <p:sp>
        <p:nvSpPr>
          <p:cNvPr id="19" name="Shape 17"/>
          <p:cNvSpPr/>
          <p:nvPr/>
        </p:nvSpPr>
        <p:spPr>
          <a:xfrm>
            <a:off x="7491710" y="4249690"/>
            <a:ext cx="201168" cy="201168"/>
          </a:xfrm>
          <a:prstGeom prst="ellipse">
            <a:avLst/>
          </a:prstGeom>
          <a:solidFill>
            <a:srgbClr val="5FB8C9"/>
          </a:solidFill>
          <a:ln w="12700">
            <a:solidFill>
              <a:srgbClr val="5FB8C9"/>
            </a:solidFill>
            <a:prstDash val="solid"/>
          </a:ln>
        </p:spPr>
        <p:txBody>
          <a:bodyPr/>
          <a:lstStyle/>
          <a:p>
            <a:endParaRPr lang="en-NL"/>
          </a:p>
        </p:txBody>
      </p:sp>
      <p:sp>
        <p:nvSpPr>
          <p:cNvPr id="20" name="Shape 18"/>
          <p:cNvSpPr/>
          <p:nvPr/>
        </p:nvSpPr>
        <p:spPr>
          <a:xfrm>
            <a:off x="7441227" y="3979251"/>
            <a:ext cx="422613" cy="89829"/>
          </a:xfrm>
          <a:prstGeom prst="line">
            <a:avLst/>
          </a:prstGeom>
          <a:noFill/>
          <a:ln w="15875">
            <a:solidFill>
              <a:srgbClr val="5FB8C9"/>
            </a:solidFill>
            <a:prstDash val="solid"/>
          </a:ln>
        </p:spPr>
        <p:txBody>
          <a:bodyPr/>
          <a:lstStyle/>
          <a:p>
            <a:endParaRPr lang="en-NL"/>
          </a:p>
        </p:txBody>
      </p:sp>
      <p:sp>
        <p:nvSpPr>
          <p:cNvPr id="21" name="Shape 19"/>
          <p:cNvSpPr/>
          <p:nvPr/>
        </p:nvSpPr>
        <p:spPr>
          <a:xfrm>
            <a:off x="7340643" y="3878667"/>
            <a:ext cx="201168" cy="201168"/>
          </a:xfrm>
          <a:prstGeom prst="ellipse">
            <a:avLst/>
          </a:prstGeom>
          <a:solidFill>
            <a:srgbClr val="5FB8C9"/>
          </a:solidFill>
          <a:ln w="12700">
            <a:solidFill>
              <a:srgbClr val="5FB8C9"/>
            </a:solidFill>
            <a:prstDash val="solid"/>
          </a:ln>
        </p:spPr>
        <p:txBody>
          <a:bodyPr/>
          <a:lstStyle/>
          <a:p>
            <a:endParaRPr lang="en-NL"/>
          </a:p>
        </p:txBody>
      </p:sp>
      <p:sp>
        <p:nvSpPr>
          <p:cNvPr id="22" name="Shape 20"/>
          <p:cNvSpPr/>
          <p:nvPr/>
        </p:nvSpPr>
        <p:spPr>
          <a:xfrm>
            <a:off x="7690104" y="3895344"/>
            <a:ext cx="347472" cy="347472"/>
          </a:xfrm>
          <a:prstGeom prst="ellipse">
            <a:avLst/>
          </a:prstGeom>
          <a:solidFill>
            <a:srgbClr val="E8A838"/>
          </a:solidFill>
          <a:ln w="12700">
            <a:solidFill>
              <a:srgbClr val="E8A838"/>
            </a:solidFill>
            <a:prstDash val="solid"/>
          </a:ln>
        </p:spPr>
        <p:txBody>
          <a:bodyPr/>
          <a:lstStyle/>
          <a:p>
            <a:endParaRPr lang="en-NL"/>
          </a:p>
        </p:txBody>
      </p:sp>
      <p:sp>
        <p:nvSpPr>
          <p:cNvPr id="23" name="Text 21"/>
          <p:cNvSpPr txBox="1"/>
          <p:nvPr/>
        </p:nvSpPr>
        <p:spPr>
          <a:xfrm>
            <a:off x="457200" y="4023360"/>
            <a:ext cx="5486400" cy="320040"/>
          </a:xfrm>
          <a:prstGeom prst="rect">
            <a:avLst/>
          </a:prstGeom>
          <a:noFill/>
          <a:ln/>
        </p:spPr>
        <p:txBody>
          <a:bodyPr wrap="square" lIns="0" tIns="0" rIns="0" bIns="0" rtlCol="0" anchor="ctr"/>
          <a:lstStyle/>
          <a:p>
            <a:pPr marL="0" indent="0">
              <a:buNone/>
            </a:pPr>
            <a:r>
              <a:rPr lang="en-US" sz="1300" dirty="0">
                <a:solidFill>
                  <a:srgbClr val="5FB8C9"/>
                </a:solidFill>
                <a:latin typeface="Calibri" pitchFamily="34" charset="0"/>
                <a:ea typeface="Calibri" pitchFamily="34" charset="-122"/>
                <a:cs typeface="Calibri" pitchFamily="34" charset="-120"/>
              </a:rPr>
              <a:t>Jian He  ·  jian@solvationlabs.com  ·  solvationlabs.com</a:t>
            </a:r>
            <a:endParaRPr lang="en-US" sz="1300" dirty="0"/>
          </a:p>
        </p:txBody>
      </p:sp>
      <p:sp>
        <p:nvSpPr>
          <p:cNvPr id="24" name="Text 22"/>
          <p:cNvSpPr txBox="1"/>
          <p:nvPr/>
        </p:nvSpPr>
        <p:spPr>
          <a:xfrm>
            <a:off x="457200" y="4754880"/>
            <a:ext cx="8229600" cy="228600"/>
          </a:xfrm>
          <a:prstGeom prst="rect">
            <a:avLst/>
          </a:prstGeom>
          <a:noFill/>
          <a:ln/>
        </p:spPr>
        <p:txBody>
          <a:bodyPr wrap="square" lIns="0" tIns="0" rIns="0" bIns="0" rtlCol="0" anchor="ctr"/>
          <a:lstStyle/>
          <a:p>
            <a:pPr marL="0" indent="0">
              <a:buNone/>
            </a:pPr>
            <a:r>
              <a:rPr lang="en-US" sz="900" dirty="0">
                <a:solidFill>
                  <a:srgbClr val="5FB8C9"/>
                </a:solidFill>
                <a:latin typeface="Calibri" pitchFamily="34" charset="0"/>
                <a:ea typeface="Calibri" pitchFamily="34" charset="-122"/>
                <a:cs typeface="Calibri" pitchFamily="34" charset="-120"/>
              </a:rPr>
              <a:t>Solvation Labs  ·  YES!Delft Validation Program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3055</TotalTime>
  <Words>2077</Words>
  <Application>Microsoft Macintosh PowerPoint</Application>
  <PresentationFormat>On-screen Show (16:9)</PresentationFormat>
  <Paragraphs>193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Solvation Labs</dc:creator>
  <cp:lastModifiedBy>健 何</cp:lastModifiedBy>
  <cp:revision>2</cp:revision>
  <dcterms:created xsi:type="dcterms:W3CDTF">2026-09-27T17:27:49Z</dcterms:created>
  <dcterms:modified xsi:type="dcterms:W3CDTF">2026-10-14T15:59:27Z</dcterms:modified>
</cp:coreProperties>
</file>